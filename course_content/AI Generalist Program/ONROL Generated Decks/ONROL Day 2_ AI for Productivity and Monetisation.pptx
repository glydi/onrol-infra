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6858000" cx="12192000"/>
  <p:notesSz cx="6858000" cy="9144000"/>
  <p:embeddedFontLst>
    <p:embeddedFont>
      <p:font typeface="Poppins"/>
      <p:regular r:id="rId21"/>
      <p:bold r:id="rId22"/>
      <p:italic r:id="rId23"/>
      <p:boldItalic r:id="rId24"/>
    </p:embeddedFont>
    <p:embeddedFont>
      <p:font typeface="Lato"/>
      <p:regular r:id="rId25"/>
      <p:bold r:id="rId26"/>
      <p:italic r:id="rId27"/>
      <p:boldItalic r:id="rId28"/>
    </p:embeddedFont>
    <p:embeddedFont>
      <p:font typeface="Poppins SemiBold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D939C31-5C04-4685-AB2C-07A4A0C13034}">
  <a:tblStyle styleId="{DD939C31-5C04-4685-AB2C-07A4A0C1303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 b="off" i="off"/>
      <a:tcStyle>
        <a:fill>
          <a:solidFill>
            <a:srgbClr val="CFD7E7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FD7E7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Poppins-bold.fntdata"/><Relationship Id="rId21" Type="http://schemas.openxmlformats.org/officeDocument/2006/relationships/font" Target="fonts/Poppins-regular.fntdata"/><Relationship Id="rId24" Type="http://schemas.openxmlformats.org/officeDocument/2006/relationships/font" Target="fonts/Poppins-boldItalic.fntdata"/><Relationship Id="rId23" Type="http://schemas.openxmlformats.org/officeDocument/2006/relationships/font" Target="fonts/Poppins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ato-bold.fntdata"/><Relationship Id="rId25" Type="http://schemas.openxmlformats.org/officeDocument/2006/relationships/font" Target="fonts/Lato-regular.fntdata"/><Relationship Id="rId28" Type="http://schemas.openxmlformats.org/officeDocument/2006/relationships/font" Target="fonts/Lato-boldItalic.fntdata"/><Relationship Id="rId27" Type="http://schemas.openxmlformats.org/officeDocument/2006/relationships/font" Target="fonts/Lato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oppinsSemiBold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oppinsSemiBold-italic.fntdata"/><Relationship Id="rId30" Type="http://schemas.openxmlformats.org/officeDocument/2006/relationships/font" Target="fonts/PoppinsSemiBold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schemas.openxmlformats.org/officeDocument/2006/relationships/font" Target="fonts/PoppinsSemiBold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8" name="Google Shape;12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9" name="Google Shape;13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3" name="Google Shape;16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0" name="Google Shape;18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7" name="Google Shape;19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8" name="Google Shape;20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0" name="Google Shape;22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6" name="Google Shape;24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7" name="Google Shape;25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1" name="Google Shape;281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6" name="Google Shape;296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Relationship Id="rId4" Type="http://schemas.openxmlformats.org/officeDocument/2006/relationships/image" Target="../media/image9.png"/><Relationship Id="rId9" Type="http://schemas.openxmlformats.org/officeDocument/2006/relationships/image" Target="../media/image8.png"/><Relationship Id="rId5" Type="http://schemas.openxmlformats.org/officeDocument/2006/relationships/image" Target="../media/image2.png"/><Relationship Id="rId6" Type="http://schemas.openxmlformats.org/officeDocument/2006/relationships/image" Target="../media/image1.png"/><Relationship Id="rId7" Type="http://schemas.openxmlformats.org/officeDocument/2006/relationships/image" Target="../media/image14.png"/><Relationship Id="rId8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Relationship Id="rId4" Type="http://schemas.openxmlformats.org/officeDocument/2006/relationships/image" Target="../media/image9.png"/><Relationship Id="rId9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1.png"/><Relationship Id="rId7" Type="http://schemas.openxmlformats.org/officeDocument/2006/relationships/image" Target="../media/image3.png"/><Relationship Id="rId8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Relationship Id="rId4" Type="http://schemas.openxmlformats.org/officeDocument/2006/relationships/image" Target="../media/image17.png"/><Relationship Id="rId5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Relationship Id="rId4" Type="http://schemas.openxmlformats.org/officeDocument/2006/relationships/image" Target="../media/image10.png"/><Relationship Id="rId5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Relationship Id="rId4" Type="http://schemas.openxmlformats.org/officeDocument/2006/relationships/image" Target="../media/image9.png"/><Relationship Id="rId9" Type="http://schemas.openxmlformats.org/officeDocument/2006/relationships/image" Target="../media/image16.png"/><Relationship Id="rId5" Type="http://schemas.openxmlformats.org/officeDocument/2006/relationships/image" Target="../media/image2.png"/><Relationship Id="rId6" Type="http://schemas.openxmlformats.org/officeDocument/2006/relationships/image" Target="../media/image1.png"/><Relationship Id="rId7" Type="http://schemas.openxmlformats.org/officeDocument/2006/relationships/image" Target="../media/image21.png"/><Relationship Id="rId8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512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71500" y="481012"/>
            <a:ext cx="26860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A89E9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COHORT EXECUTION WORKSPACE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86" name="Google Shape;8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95875" y="2400448"/>
            <a:ext cx="20002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3115627" y="2790973"/>
            <a:ext cx="5960745" cy="1270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498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AI for </a:t>
            </a:r>
            <a:r>
              <a:rPr b="1" i="0" lang="en-US" sz="4350" u="none" cap="none" strike="noStrike">
                <a:solidFill>
                  <a:srgbClr val="FF5C00"/>
                </a:solidFill>
                <a:latin typeface="Poppins"/>
                <a:ea typeface="Poppins"/>
                <a:cs typeface="Poppins"/>
                <a:sym typeface="Poppins"/>
              </a:rPr>
              <a:t>Productivity</a:t>
            </a:r>
            <a:r>
              <a:rPr b="1" i="0" lang="en-US" sz="43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&amp;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350" u="none" cap="none" strike="noStrike">
                <a:solidFill>
                  <a:srgbClr val="FF5C00"/>
                </a:solidFill>
                <a:latin typeface="Poppins"/>
                <a:ea typeface="Poppins"/>
                <a:cs typeface="Poppins"/>
                <a:sym typeface="Poppins"/>
              </a:rPr>
              <a:t>Monetisation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2286000" y="4289970"/>
            <a:ext cx="7620000" cy="66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E5DFD8"/>
                </a:solidFill>
                <a:latin typeface="Lato"/>
                <a:ea typeface="Lato"/>
                <a:cs typeface="Lato"/>
                <a:sym typeface="Lato"/>
              </a:rPr>
              <a:t>Moving beyond academic concepts to raw execution capability. Learn the toolkit, map your workflow equation, and build a unique service offering.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10877550" y="509587"/>
            <a:ext cx="133350" cy="133350"/>
          </a:xfrm>
          <a:prstGeom prst="roundRect">
            <a:avLst>
              <a:gd fmla="val 21428" name="adj"/>
            </a:avLst>
          </a:prstGeom>
          <a:solidFill>
            <a:srgbClr val="FF5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11087100" y="476250"/>
            <a:ext cx="533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ONROL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512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571500" y="481012"/>
            <a:ext cx="9334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A89E9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SECTION 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4"/>
          <p:cNvSpPr/>
          <p:nvPr/>
        </p:nvSpPr>
        <p:spPr>
          <a:xfrm>
            <a:off x="10877550" y="509587"/>
            <a:ext cx="133350" cy="133350"/>
          </a:xfrm>
          <a:prstGeom prst="roundRect">
            <a:avLst>
              <a:gd fmla="val 21428" name="adj"/>
            </a:avLst>
          </a:prstGeom>
          <a:solidFill>
            <a:srgbClr val="FF5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11087100" y="476250"/>
            <a:ext cx="533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ONROL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2900600" y="2762250"/>
            <a:ext cx="6390798" cy="617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From Knowing to Doing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5715000" y="3712815"/>
            <a:ext cx="762000" cy="38100"/>
          </a:xfrm>
          <a:prstGeom prst="rect">
            <a:avLst/>
          </a:prstGeom>
          <a:solidFill>
            <a:srgbClr val="FF5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2286000" y="3941415"/>
            <a:ext cx="7620000" cy="6494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49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E5DFD8"/>
                </a:solidFill>
                <a:latin typeface="Lato"/>
                <a:ea typeface="Lato"/>
                <a:cs typeface="Lato"/>
                <a:sym typeface="Lato"/>
              </a:rPr>
              <a:t>Closing the massive distance between understanding that artificial intelligence exists and building a structured workflow around your real-world tasks.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BFA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6" name="Google Shape;10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61344"/>
            <a:ext cx="3492549" cy="28438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661344"/>
            <a:ext cx="3492549" cy="28438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661344"/>
            <a:ext cx="3492549" cy="2843807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571500" y="481012"/>
            <a:ext cx="21336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8C857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FROM KNOWING TO DOING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5"/>
          <p:cNvSpPr/>
          <p:nvPr/>
        </p:nvSpPr>
        <p:spPr>
          <a:xfrm>
            <a:off x="10877550" y="509587"/>
            <a:ext cx="133350" cy="133350"/>
          </a:xfrm>
          <a:prstGeom prst="roundRect">
            <a:avLst>
              <a:gd fmla="val 21428" name="adj"/>
            </a:avLst>
          </a:prstGeom>
          <a:solidFill>
            <a:srgbClr val="FF5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5"/>
          <p:cNvSpPr txBox="1"/>
          <p:nvPr/>
        </p:nvSpPr>
        <p:spPr>
          <a:xfrm>
            <a:off x="11087100" y="476250"/>
            <a:ext cx="533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ONROL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5"/>
          <p:cNvSpPr/>
          <p:nvPr/>
        </p:nvSpPr>
        <p:spPr>
          <a:xfrm>
            <a:off x="581024" y="4064198"/>
            <a:ext cx="3473500" cy="38100"/>
          </a:xfrm>
          <a:prstGeom prst="rect">
            <a:avLst/>
          </a:prstGeom>
          <a:solidFill>
            <a:srgbClr val="FF5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5"/>
          <p:cNvSpPr txBox="1"/>
          <p:nvPr/>
        </p:nvSpPr>
        <p:spPr>
          <a:xfrm>
            <a:off x="819150" y="3585269"/>
            <a:ext cx="3147112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11111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1. Explore Tools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819150" y="4174732"/>
            <a:ext cx="2997300" cy="11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Discovering specialized engines built for particular tasks like document preparation, custom presentations, and workspace indexing.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4359324" y="4064198"/>
            <a:ext cx="3473500" cy="38100"/>
          </a:xfrm>
          <a:prstGeom prst="rect">
            <a:avLst/>
          </a:prstGeom>
          <a:solidFill>
            <a:srgbClr val="FF5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5"/>
          <p:cNvSpPr txBox="1"/>
          <p:nvPr/>
        </p:nvSpPr>
        <p:spPr>
          <a:xfrm>
            <a:off x="4597449" y="3585269"/>
            <a:ext cx="3147112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11111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2. Maximize Output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5"/>
          <p:cNvSpPr txBox="1"/>
          <p:nvPr/>
        </p:nvSpPr>
        <p:spPr>
          <a:xfrm>
            <a:off x="4597449" y="4190075"/>
            <a:ext cx="2997300" cy="11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Analyzing personal throughput and understanding exactly how AI automates repetitive tasks to clear room for high-judgement decisions.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5"/>
          <p:cNvSpPr/>
          <p:nvPr/>
        </p:nvSpPr>
        <p:spPr>
          <a:xfrm>
            <a:off x="8137623" y="4064198"/>
            <a:ext cx="3473500" cy="38100"/>
          </a:xfrm>
          <a:prstGeom prst="rect">
            <a:avLst/>
          </a:prstGeom>
          <a:solidFill>
            <a:srgbClr val="FF5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8375749" y="3585269"/>
            <a:ext cx="3147112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11111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3. Real Action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5"/>
          <p:cNvSpPr txBox="1"/>
          <p:nvPr/>
        </p:nvSpPr>
        <p:spPr>
          <a:xfrm>
            <a:off x="8375749" y="4190075"/>
            <a:ext cx="2997300" cy="11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Transitioning from general interest to shipping custom services and packaging capability into reliable monetization pathways.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22" name="Google Shape;122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9150" y="3004244"/>
            <a:ext cx="36195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97449" y="3004244"/>
            <a:ext cx="314325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75749" y="3004244"/>
            <a:ext cx="22860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5"/>
          <p:cNvSpPr txBox="1"/>
          <p:nvPr/>
        </p:nvSpPr>
        <p:spPr>
          <a:xfrm>
            <a:off x="571500" y="1066800"/>
            <a:ext cx="11601450" cy="4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Three Stages of the </a:t>
            </a:r>
            <a:r>
              <a:rPr b="1" i="0" lang="en-US" sz="3150" u="none" cap="none" strike="noStrike">
                <a:solidFill>
                  <a:srgbClr val="FF5C00"/>
                </a:solidFill>
                <a:latin typeface="Poppins"/>
                <a:ea typeface="Poppins"/>
                <a:cs typeface="Poppins"/>
                <a:sym typeface="Poppins"/>
              </a:rPr>
              <a:t>Day 2 Shift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512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0" name="Google Shape;13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571500" y="481012"/>
            <a:ext cx="9620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A89E9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SECTION 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6"/>
          <p:cNvSpPr/>
          <p:nvPr/>
        </p:nvSpPr>
        <p:spPr>
          <a:xfrm>
            <a:off x="10877550" y="509587"/>
            <a:ext cx="133350" cy="133350"/>
          </a:xfrm>
          <a:prstGeom prst="roundRect">
            <a:avLst>
              <a:gd fmla="val 21428" name="adj"/>
            </a:avLst>
          </a:prstGeom>
          <a:solidFill>
            <a:srgbClr val="FF5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6"/>
          <p:cNvSpPr txBox="1"/>
          <p:nvPr/>
        </p:nvSpPr>
        <p:spPr>
          <a:xfrm>
            <a:off x="11087100" y="476250"/>
            <a:ext cx="533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ONROL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6"/>
          <p:cNvSpPr txBox="1"/>
          <p:nvPr/>
        </p:nvSpPr>
        <p:spPr>
          <a:xfrm>
            <a:off x="2250519" y="2762250"/>
            <a:ext cx="7690961" cy="617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Productivity Landscape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6"/>
          <p:cNvSpPr/>
          <p:nvPr/>
        </p:nvSpPr>
        <p:spPr>
          <a:xfrm>
            <a:off x="5715000" y="3712815"/>
            <a:ext cx="762000" cy="38100"/>
          </a:xfrm>
          <a:prstGeom prst="rect">
            <a:avLst/>
          </a:prstGeom>
          <a:solidFill>
            <a:srgbClr val="FF5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 txBox="1"/>
          <p:nvPr/>
        </p:nvSpPr>
        <p:spPr>
          <a:xfrm>
            <a:off x="2286000" y="3941415"/>
            <a:ext cx="7620000" cy="6494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49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E5DFD8"/>
                </a:solidFill>
                <a:latin typeface="Lato"/>
                <a:ea typeface="Lato"/>
                <a:cs typeface="Lato"/>
                <a:sym typeface="Lato"/>
              </a:rPr>
              <a:t>Grouping technology by the actual category of execution, rather than fleeting product names or corporate rebrands.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BFA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1" name="Google Shape;14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61344"/>
            <a:ext cx="3492549" cy="28438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661344"/>
            <a:ext cx="3492549" cy="28438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661344"/>
            <a:ext cx="3492549" cy="2843807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 txBox="1"/>
          <p:nvPr/>
        </p:nvSpPr>
        <p:spPr>
          <a:xfrm>
            <a:off x="571500" y="481012"/>
            <a:ext cx="25146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8C857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PRODUCTIVITY LANDSCAPE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7"/>
          <p:cNvSpPr/>
          <p:nvPr/>
        </p:nvSpPr>
        <p:spPr>
          <a:xfrm>
            <a:off x="10877550" y="509587"/>
            <a:ext cx="133350" cy="133350"/>
          </a:xfrm>
          <a:prstGeom prst="roundRect">
            <a:avLst>
              <a:gd fmla="val 21428" name="adj"/>
            </a:avLst>
          </a:prstGeom>
          <a:solidFill>
            <a:srgbClr val="FF5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/>
          <p:cNvSpPr txBox="1"/>
          <p:nvPr/>
        </p:nvSpPr>
        <p:spPr>
          <a:xfrm>
            <a:off x="11087100" y="476250"/>
            <a:ext cx="533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ONROL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7"/>
          <p:cNvSpPr/>
          <p:nvPr/>
        </p:nvSpPr>
        <p:spPr>
          <a:xfrm>
            <a:off x="581024" y="4064198"/>
            <a:ext cx="3473500" cy="38100"/>
          </a:xfrm>
          <a:prstGeom prst="rect">
            <a:avLst/>
          </a:prstGeom>
          <a:solidFill>
            <a:srgbClr val="FF5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 txBox="1"/>
          <p:nvPr/>
        </p:nvSpPr>
        <p:spPr>
          <a:xfrm>
            <a:off x="819150" y="3585269"/>
            <a:ext cx="3147112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11111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Writing &amp; Thinking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7"/>
          <p:cNvSpPr txBox="1"/>
          <p:nvPr/>
        </p:nvSpPr>
        <p:spPr>
          <a:xfrm>
            <a:off x="819150" y="4190075"/>
            <a:ext cx="2997300" cy="11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Drafting messages, planning lesson units, analyzing research, and interacting deeply with raw textual information databases.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7"/>
          <p:cNvSpPr/>
          <p:nvPr/>
        </p:nvSpPr>
        <p:spPr>
          <a:xfrm>
            <a:off x="4359324" y="4064198"/>
            <a:ext cx="3473500" cy="38100"/>
          </a:xfrm>
          <a:prstGeom prst="rect">
            <a:avLst/>
          </a:prstGeom>
          <a:solidFill>
            <a:srgbClr val="FF5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 txBox="1"/>
          <p:nvPr/>
        </p:nvSpPr>
        <p:spPr>
          <a:xfrm>
            <a:off x="4597449" y="3585269"/>
            <a:ext cx="3147112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11111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Layout &amp; Visuals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7"/>
          <p:cNvSpPr txBox="1"/>
          <p:nvPr/>
        </p:nvSpPr>
        <p:spPr>
          <a:xfrm>
            <a:off x="4597449" y="4190075"/>
            <a:ext cx="2997300" cy="11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Converting thoughts, slides, outlines, and summaries into high-end presentation layers and professional brand images.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8137623" y="4064198"/>
            <a:ext cx="3473500" cy="38100"/>
          </a:xfrm>
          <a:prstGeom prst="rect">
            <a:avLst/>
          </a:prstGeom>
          <a:solidFill>
            <a:srgbClr val="FF5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7"/>
          <p:cNvSpPr txBox="1"/>
          <p:nvPr/>
        </p:nvSpPr>
        <p:spPr>
          <a:xfrm>
            <a:off x="8375749" y="3585269"/>
            <a:ext cx="3147112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11111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Tracking &amp; Organizing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7"/>
          <p:cNvSpPr txBox="1"/>
          <p:nvPr/>
        </p:nvSpPr>
        <p:spPr>
          <a:xfrm>
            <a:off x="8375749" y="4174732"/>
            <a:ext cx="2997300" cy="11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Storing institutional knowledge, auto-summarizing archives, and indexing custom files in structured workspaces.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57" name="Google Shape;157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9150" y="3004244"/>
            <a:ext cx="36195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97449" y="3004244"/>
            <a:ext cx="36195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75749" y="3004244"/>
            <a:ext cx="409575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/>
        </p:nvSpPr>
        <p:spPr>
          <a:xfrm>
            <a:off x="571500" y="1066800"/>
            <a:ext cx="11601450" cy="4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The </a:t>
            </a:r>
            <a:r>
              <a:rPr b="1" i="0" lang="en-US" sz="3150" u="none" cap="none" strike="noStrike">
                <a:solidFill>
                  <a:srgbClr val="FF5C00"/>
                </a:solidFill>
                <a:latin typeface="Poppins"/>
                <a:ea typeface="Poppins"/>
                <a:cs typeface="Poppins"/>
                <a:sym typeface="Poppins"/>
              </a:rPr>
              <a:t>Three Buckets</a:t>
            </a:r>
            <a:r>
              <a:rPr b="1" i="0" lang="en-US" sz="3150" u="none" cap="none" strike="noStrike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 of Professional 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BFA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5" name="Google Shape;16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8"/>
          <p:cNvSpPr txBox="1"/>
          <p:nvPr/>
        </p:nvSpPr>
        <p:spPr>
          <a:xfrm>
            <a:off x="571500" y="481012"/>
            <a:ext cx="25146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8C857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PRODUCTIVITY LANDSCAPE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8"/>
          <p:cNvSpPr/>
          <p:nvPr/>
        </p:nvSpPr>
        <p:spPr>
          <a:xfrm>
            <a:off x="10877550" y="509587"/>
            <a:ext cx="133350" cy="133350"/>
          </a:xfrm>
          <a:prstGeom prst="roundRect">
            <a:avLst>
              <a:gd fmla="val 21428" name="adj"/>
            </a:avLst>
          </a:prstGeom>
          <a:solidFill>
            <a:srgbClr val="FF5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8"/>
          <p:cNvSpPr txBox="1"/>
          <p:nvPr/>
        </p:nvSpPr>
        <p:spPr>
          <a:xfrm>
            <a:off x="11087100" y="476250"/>
            <a:ext cx="533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ONROL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8"/>
          <p:cNvSpPr txBox="1"/>
          <p:nvPr/>
        </p:nvSpPr>
        <p:spPr>
          <a:xfrm>
            <a:off x="571500" y="2646759"/>
            <a:ext cx="616077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11111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General Assistants vs. Specialized Engines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8"/>
          <p:cNvSpPr txBox="1"/>
          <p:nvPr/>
        </p:nvSpPr>
        <p:spPr>
          <a:xfrm>
            <a:off x="933450" y="3208734"/>
            <a:ext cx="5505450" cy="560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4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1" i="0" lang="en-US" sz="1425" u="none" cap="none" strike="noStrike">
                <a:solidFill>
                  <a:srgbClr val="111111"/>
                </a:solidFill>
                <a:latin typeface="Lato"/>
                <a:ea typeface="Lato"/>
                <a:cs typeface="Lato"/>
                <a:sym typeface="Lato"/>
              </a:rPr>
              <a:t>General Assistants:</a:t>
            </a:r>
            <a:r>
              <a:rPr b="0" i="0" lang="en-US" sz="1425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ChatGPT, Claude, and Gemini act as versatile, multi-task partners for basic drafting and logic checks.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8"/>
          <p:cNvSpPr txBox="1"/>
          <p:nvPr/>
        </p:nvSpPr>
        <p:spPr>
          <a:xfrm>
            <a:off x="933450" y="3979068"/>
            <a:ext cx="5505450" cy="560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4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1" i="0" lang="en-US" sz="1425" u="none" cap="none" strike="noStrike">
                <a:solidFill>
                  <a:srgbClr val="111111"/>
                </a:solidFill>
                <a:latin typeface="Lato"/>
                <a:ea typeface="Lato"/>
                <a:cs typeface="Lato"/>
                <a:sym typeface="Lato"/>
              </a:rPr>
              <a:t>NotebookLM:</a:t>
            </a:r>
            <a:r>
              <a:rPr b="0" i="0" lang="en-US" sz="1425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Google’s dedicated document specialist. It reads </a:t>
            </a:r>
            <a:r>
              <a:rPr b="0" i="1" lang="en-US" sz="1425" u="none" cap="none" strike="noStrike">
                <a:solidFill>
                  <a:srgbClr val="FF5C00"/>
                </a:solidFill>
                <a:latin typeface="Lato"/>
                <a:ea typeface="Lato"/>
                <a:cs typeface="Lato"/>
                <a:sym typeface="Lato"/>
              </a:rPr>
              <a:t>only</a:t>
            </a:r>
            <a:r>
              <a:rPr b="0" i="0" lang="en-US" sz="1425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the specific files you upload, completely avoiding general model drift.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8"/>
          <p:cNvSpPr txBox="1"/>
          <p:nvPr/>
        </p:nvSpPr>
        <p:spPr>
          <a:xfrm>
            <a:off x="933450" y="4749403"/>
            <a:ext cx="5505450" cy="560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4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1" i="0" lang="en-US" sz="1425" u="none" cap="none" strike="noStrike">
                <a:solidFill>
                  <a:srgbClr val="111111"/>
                </a:solidFill>
                <a:latin typeface="Lato"/>
                <a:ea typeface="Lato"/>
                <a:cs typeface="Lato"/>
                <a:sym typeface="Lato"/>
              </a:rPr>
              <a:t>Perplexity:</a:t>
            </a:r>
            <a:r>
              <a:rPr b="0" i="0" lang="en-US" sz="1425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Replaces conversational explanation with a fully cited search engine that highlights authoritative source materials.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73" name="Google Shape;17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232546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002881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773215"/>
            <a:ext cx="2095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8"/>
          <p:cNvSpPr txBox="1"/>
          <p:nvPr/>
        </p:nvSpPr>
        <p:spPr>
          <a:xfrm>
            <a:off x="571500" y="1066800"/>
            <a:ext cx="11601450" cy="4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Tools for </a:t>
            </a:r>
            <a:r>
              <a:rPr b="1" i="0" lang="en-US" sz="3150" u="none" cap="none" strike="noStrike">
                <a:solidFill>
                  <a:srgbClr val="FF5C00"/>
                </a:solidFill>
                <a:latin typeface="Poppins"/>
                <a:ea typeface="Poppins"/>
                <a:cs typeface="Poppins"/>
                <a:sym typeface="Poppins"/>
              </a:rPr>
              <a:t>Writing &amp; Information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7" name="Google Shape;177;p18" title="618c2714-d576-48ae-8ff9-9d92dddff755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32275" y="2403612"/>
            <a:ext cx="5126400" cy="3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BFA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2" name="Google Shape;18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9"/>
          <p:cNvSpPr txBox="1"/>
          <p:nvPr/>
        </p:nvSpPr>
        <p:spPr>
          <a:xfrm>
            <a:off x="571500" y="481012"/>
            <a:ext cx="25146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8C857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PRODUCTIVITY LANDSCAPE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9"/>
          <p:cNvSpPr/>
          <p:nvPr/>
        </p:nvSpPr>
        <p:spPr>
          <a:xfrm>
            <a:off x="10877550" y="509587"/>
            <a:ext cx="133350" cy="133350"/>
          </a:xfrm>
          <a:prstGeom prst="roundRect">
            <a:avLst>
              <a:gd fmla="val 21428" name="adj"/>
            </a:avLst>
          </a:prstGeom>
          <a:solidFill>
            <a:srgbClr val="FF5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9"/>
          <p:cNvSpPr txBox="1"/>
          <p:nvPr/>
        </p:nvSpPr>
        <p:spPr>
          <a:xfrm>
            <a:off x="11087100" y="476250"/>
            <a:ext cx="533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ONROL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9"/>
          <p:cNvSpPr txBox="1"/>
          <p:nvPr/>
        </p:nvSpPr>
        <p:spPr>
          <a:xfrm>
            <a:off x="5753100" y="2506563"/>
            <a:ext cx="616077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11111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Bypassing the Blank Page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9"/>
          <p:cNvSpPr txBox="1"/>
          <p:nvPr/>
        </p:nvSpPr>
        <p:spPr>
          <a:xfrm>
            <a:off x="6115050" y="3068538"/>
            <a:ext cx="5505450" cy="560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4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1" i="0" lang="en-US" sz="1425" u="none" cap="none" strike="noStrike">
                <a:solidFill>
                  <a:srgbClr val="111111"/>
                </a:solidFill>
                <a:latin typeface="Lato"/>
                <a:ea typeface="Lato"/>
                <a:cs typeface="Lato"/>
                <a:sym typeface="Lato"/>
              </a:rPr>
              <a:t>Gamma &amp; .AIi:</a:t>
            </a:r>
            <a:r>
              <a:rPr b="0" i="0" lang="en-US" sz="1425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Rapidly builds complete, formatted slideshow drafts from custom summaries, ensuring uniform branding.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9"/>
          <p:cNvSpPr txBox="1"/>
          <p:nvPr/>
        </p:nvSpPr>
        <p:spPr>
          <a:xfrm>
            <a:off x="6115050" y="3838872"/>
            <a:ext cx="5505450" cy="841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4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1" i="0" lang="en-US" sz="1425" u="none" cap="none" strike="noStrike">
                <a:solidFill>
                  <a:srgbClr val="111111"/>
                </a:solidFill>
                <a:latin typeface="Lato"/>
                <a:ea typeface="Lato"/>
                <a:cs typeface="Lato"/>
                <a:sym typeface="Lato"/>
              </a:rPr>
              <a:t>Canva Integration:</a:t>
            </a:r>
            <a:r>
              <a:rPr b="0" i="0" lang="en-US" sz="1425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Integrates generation loops directly inside standard graphic spaces to edit layouts, clear backgrounds, and resize instantly.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9"/>
          <p:cNvSpPr txBox="1"/>
          <p:nvPr/>
        </p:nvSpPr>
        <p:spPr>
          <a:xfrm>
            <a:off x="6115050" y="4889599"/>
            <a:ext cx="5505450" cy="560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4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1" i="0" lang="en-US" sz="1425" u="none" cap="none" strike="noStrike">
                <a:solidFill>
                  <a:srgbClr val="111111"/>
                </a:solidFill>
                <a:latin typeface="Lato"/>
                <a:ea typeface="Lato"/>
                <a:cs typeface="Lato"/>
                <a:sym typeface="Lato"/>
              </a:rPr>
              <a:t>Speed &amp; Value:</a:t>
            </a:r>
            <a:r>
              <a:rPr b="0" i="0" lang="en-US" sz="1425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Turns slow, expensive manual design into quick internal workflows that take only minutes to ship.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90" name="Google Shape;19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53100" y="3092350"/>
            <a:ext cx="2381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53100" y="3862685"/>
            <a:ext cx="2381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53100" y="4913411"/>
            <a:ext cx="23812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9"/>
          <p:cNvSpPr txBox="1"/>
          <p:nvPr/>
        </p:nvSpPr>
        <p:spPr>
          <a:xfrm>
            <a:off x="571500" y="1066800"/>
            <a:ext cx="11601450" cy="4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Tools for </a:t>
            </a:r>
            <a:r>
              <a:rPr b="1" i="0" lang="en-US" sz="3150" u="none" cap="none" strike="noStrike">
                <a:solidFill>
                  <a:srgbClr val="FF5C00"/>
                </a:solidFill>
                <a:latin typeface="Poppins"/>
                <a:ea typeface="Poppins"/>
                <a:cs typeface="Poppins"/>
                <a:sym typeface="Poppins"/>
              </a:rPr>
              <a:t>Visuals &amp; Documents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4" name="Google Shape;194;p19" title="689e2a30-d2ec-45a9-a29e-ebc199bc25e5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1500" y="2417750"/>
            <a:ext cx="4548925" cy="303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512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9" name="Google Shape;19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0"/>
          <p:cNvSpPr txBox="1"/>
          <p:nvPr/>
        </p:nvSpPr>
        <p:spPr>
          <a:xfrm>
            <a:off x="571500" y="481012"/>
            <a:ext cx="9620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A89E9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SECTION 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0"/>
          <p:cNvSpPr/>
          <p:nvPr/>
        </p:nvSpPr>
        <p:spPr>
          <a:xfrm>
            <a:off x="10877550" y="509587"/>
            <a:ext cx="133350" cy="133350"/>
          </a:xfrm>
          <a:prstGeom prst="roundRect">
            <a:avLst>
              <a:gd fmla="val 21428" name="adj"/>
            </a:avLst>
          </a:prstGeom>
          <a:solidFill>
            <a:srgbClr val="FF5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11087100" y="476250"/>
            <a:ext cx="533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ONROL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3940730" y="2762250"/>
            <a:ext cx="4310538" cy="617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Workflow Shifts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0"/>
          <p:cNvSpPr/>
          <p:nvPr/>
        </p:nvSpPr>
        <p:spPr>
          <a:xfrm>
            <a:off x="5715000" y="3712815"/>
            <a:ext cx="762000" cy="38100"/>
          </a:xfrm>
          <a:prstGeom prst="rect">
            <a:avLst/>
          </a:prstGeom>
          <a:solidFill>
            <a:srgbClr val="FF5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0"/>
          <p:cNvSpPr txBox="1"/>
          <p:nvPr/>
        </p:nvSpPr>
        <p:spPr>
          <a:xfrm>
            <a:off x="2286000" y="3941415"/>
            <a:ext cx="7620000" cy="6494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49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E5DFD8"/>
                </a:solidFill>
                <a:latin typeface="Lato"/>
                <a:ea typeface="Lato"/>
                <a:cs typeface="Lato"/>
                <a:sym typeface="Lato"/>
              </a:rPr>
              <a:t>Breaking the age-old connection between human hours and output potential to optimize workspace value.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BFA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0" name="Google Shape;21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1"/>
          <p:cNvSpPr txBox="1"/>
          <p:nvPr/>
        </p:nvSpPr>
        <p:spPr>
          <a:xfrm>
            <a:off x="571500" y="481012"/>
            <a:ext cx="1524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8C857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WORKFLOW SHIFTS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1"/>
          <p:cNvSpPr/>
          <p:nvPr/>
        </p:nvSpPr>
        <p:spPr>
          <a:xfrm>
            <a:off x="10877550" y="509587"/>
            <a:ext cx="133350" cy="133350"/>
          </a:xfrm>
          <a:prstGeom prst="roundRect">
            <a:avLst>
              <a:gd fmla="val 21428" name="adj"/>
            </a:avLst>
          </a:prstGeom>
          <a:solidFill>
            <a:srgbClr val="FF5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1"/>
          <p:cNvSpPr txBox="1"/>
          <p:nvPr/>
        </p:nvSpPr>
        <p:spPr>
          <a:xfrm>
            <a:off x="11087100" y="476250"/>
            <a:ext cx="533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ONROL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1"/>
          <p:cNvSpPr txBox="1"/>
          <p:nvPr/>
        </p:nvSpPr>
        <p:spPr>
          <a:xfrm>
            <a:off x="2047875" y="2762696"/>
            <a:ext cx="8096250" cy="14086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49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The tool takes over the mechanical part of the work, and the person keeps, undiminished, the part that carries judgement and responsibility.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1"/>
          <p:cNvSpPr txBox="1"/>
          <p:nvPr/>
        </p:nvSpPr>
        <p:spPr>
          <a:xfrm>
            <a:off x="3867150" y="4419004"/>
            <a:ext cx="44577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1" i="0" lang="en-US" sz="1425" u="none" cap="none" strike="noStrike">
                <a:solidFill>
                  <a:srgbClr val="FF5C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DR. VLN MURTHY — FOUNDER, ONROL SCHOOL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1"/>
          <p:cNvSpPr txBox="1"/>
          <p:nvPr/>
        </p:nvSpPr>
        <p:spPr>
          <a:xfrm>
            <a:off x="1476375" y="3096071"/>
            <a:ext cx="333375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0"/>
              <a:buFont typeface="Arial"/>
              <a:buNone/>
            </a:pPr>
            <a:r>
              <a:rPr b="0" i="0" lang="en-US" sz="9000" u="none" cap="none" strike="noStrike">
                <a:solidFill>
                  <a:srgbClr val="FF5C00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1"/>
          <p:cNvSpPr txBox="1"/>
          <p:nvPr/>
        </p:nvSpPr>
        <p:spPr>
          <a:xfrm>
            <a:off x="10382250" y="4266608"/>
            <a:ext cx="333375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0"/>
              <a:buFont typeface="Arial"/>
              <a:buNone/>
            </a:pPr>
            <a:r>
              <a:rPr b="0" i="0" lang="en-US" sz="9000" u="none" cap="none" strike="noStrike">
                <a:solidFill>
                  <a:srgbClr val="FF5C00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BFA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2" name="Google Shape;22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2"/>
          <p:cNvSpPr txBox="1"/>
          <p:nvPr/>
        </p:nvSpPr>
        <p:spPr>
          <a:xfrm>
            <a:off x="571500" y="481012"/>
            <a:ext cx="1524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8C857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WORKFLOW SHIFTS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2"/>
          <p:cNvSpPr/>
          <p:nvPr/>
        </p:nvSpPr>
        <p:spPr>
          <a:xfrm>
            <a:off x="10877550" y="509587"/>
            <a:ext cx="133350" cy="133350"/>
          </a:xfrm>
          <a:prstGeom prst="roundRect">
            <a:avLst>
              <a:gd fmla="val 21428" name="adj"/>
            </a:avLst>
          </a:prstGeom>
          <a:solidFill>
            <a:srgbClr val="FF5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2"/>
          <p:cNvSpPr txBox="1"/>
          <p:nvPr/>
        </p:nvSpPr>
        <p:spPr>
          <a:xfrm>
            <a:off x="11087100" y="476250"/>
            <a:ext cx="533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ONROL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26" name="Google Shape;226;p22"/>
          <p:cNvGraphicFramePr/>
          <p:nvPr/>
        </p:nvGraphicFramePr>
        <p:xfrm>
          <a:off x="571500" y="245923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{DD939C31-5C04-4685-AB2C-07A4A0C13034}</a:tableStyleId>
              </a:tblPr>
              <a:tblGrid>
                <a:gridCol w="1876425"/>
                <a:gridCol w="2942325"/>
                <a:gridCol w="2935625"/>
                <a:gridCol w="3294600"/>
              </a:tblGrid>
              <a:tr h="649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Arial"/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11111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Role &amp; Context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A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Arial"/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11111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Old Manual Way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A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Arial"/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11111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New AI-Assisted Way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A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Arial"/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11111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Actual Output Shift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AF7"/>
                    </a:solidFill>
                  </a:tcPr>
                </a:tc>
              </a:tr>
              <a:tr h="649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Pune Teacher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Types &amp; formats exams by hand after dinner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Feeds unit descriptions; adjusts AI questions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Saves hours; filters target metrics safely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9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Coimbatore Accountant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Manually updates reminder figures for 40+ clients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Feeds client detail matrices into a prompt loop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 full day of copying becomes a morning of checking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9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Hyderabad Job-Seeker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Rewrites individual covering notes from a blank page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Uses base resume to auto-tune cover summaries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Maintains high-quality pitches across 15 custom applications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9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Jaipur Photographer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Sifts manually through 2,000 photo layers to find 300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Runs initial sorting &amp; color adjustments with AI tools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Frees space to focus entirely on creative editing styles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7" name="Google Shape;227;p22"/>
          <p:cNvSpPr/>
          <p:nvPr/>
        </p:nvSpPr>
        <p:spPr>
          <a:xfrm>
            <a:off x="571500" y="2997398"/>
            <a:ext cx="1876425" cy="9525"/>
          </a:xfrm>
          <a:prstGeom prst="rect">
            <a:avLst/>
          </a:prstGeom>
          <a:solidFill>
            <a:srgbClr val="EDE8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2"/>
          <p:cNvSpPr/>
          <p:nvPr/>
        </p:nvSpPr>
        <p:spPr>
          <a:xfrm>
            <a:off x="2447925" y="2997398"/>
            <a:ext cx="2942332" cy="9525"/>
          </a:xfrm>
          <a:prstGeom prst="rect">
            <a:avLst/>
          </a:prstGeom>
          <a:solidFill>
            <a:srgbClr val="EDE8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2"/>
          <p:cNvSpPr/>
          <p:nvPr/>
        </p:nvSpPr>
        <p:spPr>
          <a:xfrm>
            <a:off x="5390257" y="2997398"/>
            <a:ext cx="2935634" cy="9525"/>
          </a:xfrm>
          <a:prstGeom prst="rect">
            <a:avLst/>
          </a:prstGeom>
          <a:solidFill>
            <a:srgbClr val="EDE8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2"/>
          <p:cNvSpPr/>
          <p:nvPr/>
        </p:nvSpPr>
        <p:spPr>
          <a:xfrm>
            <a:off x="8325891" y="2997398"/>
            <a:ext cx="3294608" cy="9525"/>
          </a:xfrm>
          <a:prstGeom prst="rect">
            <a:avLst/>
          </a:prstGeom>
          <a:solidFill>
            <a:srgbClr val="EDE8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2"/>
          <p:cNvSpPr/>
          <p:nvPr/>
        </p:nvSpPr>
        <p:spPr>
          <a:xfrm>
            <a:off x="571500" y="3673673"/>
            <a:ext cx="1876425" cy="9525"/>
          </a:xfrm>
          <a:prstGeom prst="rect">
            <a:avLst/>
          </a:prstGeom>
          <a:solidFill>
            <a:srgbClr val="EDE8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2"/>
          <p:cNvSpPr/>
          <p:nvPr/>
        </p:nvSpPr>
        <p:spPr>
          <a:xfrm>
            <a:off x="2447925" y="3673673"/>
            <a:ext cx="2942332" cy="9525"/>
          </a:xfrm>
          <a:prstGeom prst="rect">
            <a:avLst/>
          </a:prstGeom>
          <a:solidFill>
            <a:srgbClr val="EDE8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2"/>
          <p:cNvSpPr/>
          <p:nvPr/>
        </p:nvSpPr>
        <p:spPr>
          <a:xfrm>
            <a:off x="5390257" y="3673673"/>
            <a:ext cx="2935634" cy="9525"/>
          </a:xfrm>
          <a:prstGeom prst="rect">
            <a:avLst/>
          </a:prstGeom>
          <a:solidFill>
            <a:srgbClr val="EDE8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2"/>
          <p:cNvSpPr/>
          <p:nvPr/>
        </p:nvSpPr>
        <p:spPr>
          <a:xfrm>
            <a:off x="8325891" y="3673673"/>
            <a:ext cx="3294608" cy="9525"/>
          </a:xfrm>
          <a:prstGeom prst="rect">
            <a:avLst/>
          </a:prstGeom>
          <a:solidFill>
            <a:srgbClr val="EDE8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2"/>
          <p:cNvSpPr/>
          <p:nvPr/>
        </p:nvSpPr>
        <p:spPr>
          <a:xfrm>
            <a:off x="571500" y="4349948"/>
            <a:ext cx="1876425" cy="9525"/>
          </a:xfrm>
          <a:prstGeom prst="rect">
            <a:avLst/>
          </a:prstGeom>
          <a:solidFill>
            <a:srgbClr val="EDE8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2"/>
          <p:cNvSpPr/>
          <p:nvPr/>
        </p:nvSpPr>
        <p:spPr>
          <a:xfrm>
            <a:off x="2447925" y="4349948"/>
            <a:ext cx="2942332" cy="9525"/>
          </a:xfrm>
          <a:prstGeom prst="rect">
            <a:avLst/>
          </a:prstGeom>
          <a:solidFill>
            <a:srgbClr val="EDE8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2"/>
          <p:cNvSpPr/>
          <p:nvPr/>
        </p:nvSpPr>
        <p:spPr>
          <a:xfrm>
            <a:off x="5390257" y="4349948"/>
            <a:ext cx="2935634" cy="9525"/>
          </a:xfrm>
          <a:prstGeom prst="rect">
            <a:avLst/>
          </a:prstGeom>
          <a:solidFill>
            <a:srgbClr val="EDE8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2"/>
          <p:cNvSpPr/>
          <p:nvPr/>
        </p:nvSpPr>
        <p:spPr>
          <a:xfrm>
            <a:off x="8325891" y="4349948"/>
            <a:ext cx="3294608" cy="9525"/>
          </a:xfrm>
          <a:prstGeom prst="rect">
            <a:avLst/>
          </a:prstGeom>
          <a:solidFill>
            <a:srgbClr val="EDE8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2"/>
          <p:cNvSpPr/>
          <p:nvPr/>
        </p:nvSpPr>
        <p:spPr>
          <a:xfrm>
            <a:off x="571500" y="5026223"/>
            <a:ext cx="1876425" cy="9525"/>
          </a:xfrm>
          <a:prstGeom prst="rect">
            <a:avLst/>
          </a:prstGeom>
          <a:solidFill>
            <a:srgbClr val="EDE8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2"/>
          <p:cNvSpPr/>
          <p:nvPr/>
        </p:nvSpPr>
        <p:spPr>
          <a:xfrm>
            <a:off x="2447925" y="5026223"/>
            <a:ext cx="2942332" cy="9525"/>
          </a:xfrm>
          <a:prstGeom prst="rect">
            <a:avLst/>
          </a:prstGeom>
          <a:solidFill>
            <a:srgbClr val="EDE8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2"/>
          <p:cNvSpPr/>
          <p:nvPr/>
        </p:nvSpPr>
        <p:spPr>
          <a:xfrm>
            <a:off x="5390257" y="5026223"/>
            <a:ext cx="2935634" cy="9525"/>
          </a:xfrm>
          <a:prstGeom prst="rect">
            <a:avLst/>
          </a:prstGeom>
          <a:solidFill>
            <a:srgbClr val="EDE8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2"/>
          <p:cNvSpPr/>
          <p:nvPr/>
        </p:nvSpPr>
        <p:spPr>
          <a:xfrm>
            <a:off x="8325891" y="5026223"/>
            <a:ext cx="3294608" cy="9525"/>
          </a:xfrm>
          <a:prstGeom prst="rect">
            <a:avLst/>
          </a:prstGeom>
          <a:solidFill>
            <a:srgbClr val="EDE8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2"/>
          <p:cNvSpPr txBox="1"/>
          <p:nvPr/>
        </p:nvSpPr>
        <p:spPr>
          <a:xfrm>
            <a:off x="571500" y="1066800"/>
            <a:ext cx="11601450" cy="4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The Same Work, </a:t>
            </a:r>
            <a:r>
              <a:rPr b="1" i="0" lang="en-US" sz="3150" u="none" cap="none" strike="noStrike">
                <a:solidFill>
                  <a:srgbClr val="FF5C00"/>
                </a:solidFill>
                <a:latin typeface="Poppins"/>
                <a:ea typeface="Poppins"/>
                <a:cs typeface="Poppins"/>
                <a:sym typeface="Poppins"/>
              </a:rPr>
              <a:t>Done Two Ways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512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8" name="Google Shape;24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3"/>
          <p:cNvSpPr txBox="1"/>
          <p:nvPr/>
        </p:nvSpPr>
        <p:spPr>
          <a:xfrm>
            <a:off x="571500" y="481012"/>
            <a:ext cx="9810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A89E9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SECTION 04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23"/>
          <p:cNvSpPr/>
          <p:nvPr/>
        </p:nvSpPr>
        <p:spPr>
          <a:xfrm>
            <a:off x="10877550" y="509587"/>
            <a:ext cx="133350" cy="133350"/>
          </a:xfrm>
          <a:prstGeom prst="roundRect">
            <a:avLst>
              <a:gd fmla="val 21428" name="adj"/>
            </a:avLst>
          </a:prstGeom>
          <a:solidFill>
            <a:srgbClr val="FF5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3"/>
          <p:cNvSpPr txBox="1"/>
          <p:nvPr/>
        </p:nvSpPr>
        <p:spPr>
          <a:xfrm>
            <a:off x="11087100" y="476250"/>
            <a:ext cx="533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ONROL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3"/>
          <p:cNvSpPr txBox="1"/>
          <p:nvPr/>
        </p:nvSpPr>
        <p:spPr>
          <a:xfrm>
            <a:off x="2055494" y="2762250"/>
            <a:ext cx="8081010" cy="617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Turning Capability into Value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23"/>
          <p:cNvSpPr/>
          <p:nvPr/>
        </p:nvSpPr>
        <p:spPr>
          <a:xfrm>
            <a:off x="5715000" y="3712815"/>
            <a:ext cx="762000" cy="38100"/>
          </a:xfrm>
          <a:prstGeom prst="rect">
            <a:avLst/>
          </a:prstGeom>
          <a:solidFill>
            <a:srgbClr val="FF5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3"/>
          <p:cNvSpPr txBox="1"/>
          <p:nvPr/>
        </p:nvSpPr>
        <p:spPr>
          <a:xfrm>
            <a:off x="2286000" y="3941415"/>
            <a:ext cx="7620000" cy="6494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49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E5DFD8"/>
                </a:solidFill>
                <a:latin typeface="Lato"/>
                <a:ea typeface="Lato"/>
                <a:cs typeface="Lato"/>
                <a:sym typeface="Lato"/>
              </a:rPr>
              <a:t>How to leverage your background, combine it with automated speed, and structure AI-powered monetization models.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BFA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9" name="Google Shape;25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0" name="Google Shape;260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61344"/>
            <a:ext cx="3492549" cy="28438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1" name="Google Shape;261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661344"/>
            <a:ext cx="3492549" cy="28438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2" name="Google Shape;262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661344"/>
            <a:ext cx="3492549" cy="2843807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4"/>
          <p:cNvSpPr txBox="1"/>
          <p:nvPr/>
        </p:nvSpPr>
        <p:spPr>
          <a:xfrm>
            <a:off x="571500" y="481012"/>
            <a:ext cx="26574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8C857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TURNING CAPABILITY INTO VALUE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24"/>
          <p:cNvSpPr/>
          <p:nvPr/>
        </p:nvSpPr>
        <p:spPr>
          <a:xfrm>
            <a:off x="10877550" y="509587"/>
            <a:ext cx="133350" cy="133350"/>
          </a:xfrm>
          <a:prstGeom prst="roundRect">
            <a:avLst>
              <a:gd fmla="val 21428" name="adj"/>
            </a:avLst>
          </a:prstGeom>
          <a:solidFill>
            <a:srgbClr val="FF5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4"/>
          <p:cNvSpPr txBox="1"/>
          <p:nvPr/>
        </p:nvSpPr>
        <p:spPr>
          <a:xfrm>
            <a:off x="11087100" y="476250"/>
            <a:ext cx="533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ONROL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24"/>
          <p:cNvSpPr/>
          <p:nvPr/>
        </p:nvSpPr>
        <p:spPr>
          <a:xfrm>
            <a:off x="581024" y="4064198"/>
            <a:ext cx="3473500" cy="38100"/>
          </a:xfrm>
          <a:prstGeom prst="rect">
            <a:avLst/>
          </a:prstGeom>
          <a:solidFill>
            <a:srgbClr val="FF5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4"/>
          <p:cNvSpPr txBox="1"/>
          <p:nvPr/>
        </p:nvSpPr>
        <p:spPr>
          <a:xfrm>
            <a:off x="819150" y="3585269"/>
            <a:ext cx="3147112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11111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1. Freelance Gigs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24"/>
          <p:cNvSpPr txBox="1"/>
          <p:nvPr/>
        </p:nvSpPr>
        <p:spPr>
          <a:xfrm>
            <a:off x="819150" y="4175819"/>
            <a:ext cx="2997300" cy="11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Executing single, highly defined tasks for many clients, such as converting raw transcripts into publication-ready articles.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24"/>
          <p:cNvSpPr/>
          <p:nvPr/>
        </p:nvSpPr>
        <p:spPr>
          <a:xfrm>
            <a:off x="4359324" y="4064198"/>
            <a:ext cx="3473500" cy="38100"/>
          </a:xfrm>
          <a:prstGeom prst="rect">
            <a:avLst/>
          </a:prstGeom>
          <a:solidFill>
            <a:srgbClr val="FF5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4"/>
          <p:cNvSpPr txBox="1"/>
          <p:nvPr/>
        </p:nvSpPr>
        <p:spPr>
          <a:xfrm>
            <a:off x="4597449" y="3585269"/>
            <a:ext cx="3147112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11111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2. AI Consulting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24"/>
          <p:cNvSpPr txBox="1"/>
          <p:nvPr/>
        </p:nvSpPr>
        <p:spPr>
          <a:xfrm>
            <a:off x="4597449" y="4195040"/>
            <a:ext cx="2997300" cy="11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Selling advising frameworks instead of manual execution. Setting up toolchains and educating organizations on daily usage rules.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24"/>
          <p:cNvSpPr/>
          <p:nvPr/>
        </p:nvSpPr>
        <p:spPr>
          <a:xfrm>
            <a:off x="8137623" y="4064198"/>
            <a:ext cx="3473500" cy="38100"/>
          </a:xfrm>
          <a:prstGeom prst="rect">
            <a:avLst/>
          </a:prstGeom>
          <a:solidFill>
            <a:srgbClr val="FF5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4"/>
          <p:cNvSpPr txBox="1"/>
          <p:nvPr/>
        </p:nvSpPr>
        <p:spPr>
          <a:xfrm>
            <a:off x="8375749" y="3585269"/>
            <a:ext cx="3147112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11111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3. Productised Services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24"/>
          <p:cNvSpPr txBox="1"/>
          <p:nvPr/>
        </p:nvSpPr>
        <p:spPr>
          <a:xfrm>
            <a:off x="8375749" y="4174732"/>
            <a:ext cx="2997300" cy="11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Packaging a repeatable result with standard pricing—such as delivering a monthly pack of customized visual posts for local SMBs.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75" name="Google Shape;275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9150" y="3004244"/>
            <a:ext cx="36195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6" name="Google Shape;276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97449" y="3004244"/>
            <a:ext cx="45720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7" name="Google Shape;277;p2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75749" y="3004244"/>
            <a:ext cx="45720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4"/>
          <p:cNvSpPr txBox="1"/>
          <p:nvPr/>
        </p:nvSpPr>
        <p:spPr>
          <a:xfrm>
            <a:off x="571500" y="1066800"/>
            <a:ext cx="11601450" cy="4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The </a:t>
            </a:r>
            <a:r>
              <a:rPr b="1" i="0" lang="en-US" sz="3150" u="none" cap="none" strike="noStrike">
                <a:solidFill>
                  <a:srgbClr val="FF5C00"/>
                </a:solidFill>
                <a:latin typeface="Poppins"/>
                <a:ea typeface="Poppins"/>
                <a:cs typeface="Poppins"/>
                <a:sym typeface="Poppins"/>
              </a:rPr>
              <a:t>Three Service Shapes</a:t>
            </a:r>
            <a:r>
              <a:rPr b="1" i="0" lang="en-US" sz="3150" u="none" cap="none" strike="noStrike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 to Build Income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BFA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3" name="Google Shape;28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5"/>
          <p:cNvSpPr txBox="1"/>
          <p:nvPr/>
        </p:nvSpPr>
        <p:spPr>
          <a:xfrm>
            <a:off x="571500" y="481012"/>
            <a:ext cx="26574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8C857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TURNING CAPABILITY INTO VALUE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25"/>
          <p:cNvSpPr/>
          <p:nvPr/>
        </p:nvSpPr>
        <p:spPr>
          <a:xfrm>
            <a:off x="10877550" y="509587"/>
            <a:ext cx="133350" cy="133350"/>
          </a:xfrm>
          <a:prstGeom prst="roundRect">
            <a:avLst>
              <a:gd fmla="val 21428" name="adj"/>
            </a:avLst>
          </a:prstGeom>
          <a:solidFill>
            <a:srgbClr val="FF5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5"/>
          <p:cNvSpPr txBox="1"/>
          <p:nvPr/>
        </p:nvSpPr>
        <p:spPr>
          <a:xfrm>
            <a:off x="11087100" y="476250"/>
            <a:ext cx="533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ONROL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25"/>
          <p:cNvSpPr txBox="1"/>
          <p:nvPr/>
        </p:nvSpPr>
        <p:spPr>
          <a:xfrm>
            <a:off x="1314450" y="3003946"/>
            <a:ext cx="10306050" cy="560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4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1" i="0" lang="en-US" sz="1425" u="none" cap="none" strike="noStrike">
                <a:solidFill>
                  <a:srgbClr val="111111"/>
                </a:solidFill>
                <a:latin typeface="Lato"/>
                <a:ea typeface="Lato"/>
                <a:cs typeface="Lato"/>
                <a:sym typeface="Lato"/>
              </a:rPr>
              <a:t>Classroom Teachers (CBSE/State Board):</a:t>
            </a:r>
            <a:r>
              <a:rPr b="0" i="0" lang="en-US" sz="1425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Understand questions, learning gaps, and lesson design perfectly. Combine with AI to sell custom exam sets and summaries to test-prep coaching centers.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25"/>
          <p:cNvSpPr txBox="1"/>
          <p:nvPr/>
        </p:nvSpPr>
        <p:spPr>
          <a:xfrm>
            <a:off x="1314450" y="3774281"/>
            <a:ext cx="10306050" cy="560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4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1" i="0" lang="en-US" sz="1425" u="none" cap="none" strike="noStrike">
                <a:solidFill>
                  <a:srgbClr val="111111"/>
                </a:solidFill>
                <a:latin typeface="Lato"/>
                <a:ea typeface="Lato"/>
                <a:cs typeface="Lato"/>
                <a:sym typeface="Lato"/>
              </a:rPr>
              <a:t>Homemakers &amp; Local Business Owners:</a:t>
            </a:r>
            <a:r>
              <a:rPr b="0" i="0" lang="en-US" sz="1425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Understand neighborhood dynamics deeply. Use visual and content pipelines to coordinate social pages and WhatsApp offers for retail shops down the street.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25"/>
          <p:cNvSpPr txBox="1"/>
          <p:nvPr/>
        </p:nvSpPr>
        <p:spPr>
          <a:xfrm>
            <a:off x="1314450" y="4544615"/>
            <a:ext cx="10306050" cy="560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4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1" i="0" lang="en-US" sz="1425" u="none" cap="none" strike="noStrike">
                <a:solidFill>
                  <a:srgbClr val="111111"/>
                </a:solidFill>
                <a:latin typeface="Lato"/>
                <a:ea typeface="Lato"/>
                <a:cs typeface="Lato"/>
                <a:sym typeface="Lato"/>
              </a:rPr>
              <a:t>Retired Officers &amp; Administrators:</a:t>
            </a:r>
            <a:r>
              <a:rPr b="0" i="0" lang="en-US" sz="1425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Possess exceptional command over formal correspondence. Combine with LLM speeds to proofread and draft official summaries for growing companies.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90" name="Google Shape;29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3027759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1" name="Google Shape;291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3798093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2" name="Google Shape;292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4568428"/>
            <a:ext cx="2095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5"/>
          <p:cNvSpPr txBox="1"/>
          <p:nvPr/>
        </p:nvSpPr>
        <p:spPr>
          <a:xfrm>
            <a:off x="571500" y="1066800"/>
            <a:ext cx="11601450" cy="4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Matching AI Offerings with </a:t>
            </a:r>
            <a:r>
              <a:rPr b="1" i="0" lang="en-US" sz="3150" u="none" cap="none" strike="noStrike">
                <a:solidFill>
                  <a:srgbClr val="FF5C00"/>
                </a:solidFill>
                <a:latin typeface="Poppins"/>
                <a:ea typeface="Poppins"/>
                <a:cs typeface="Poppins"/>
                <a:sym typeface="Poppins"/>
              </a:rPr>
              <a:t>Who You Are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BFA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8" name="Google Shape;29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6"/>
          <p:cNvSpPr txBox="1"/>
          <p:nvPr/>
        </p:nvSpPr>
        <p:spPr>
          <a:xfrm>
            <a:off x="571500" y="481012"/>
            <a:ext cx="9715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8C857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SECTION 05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26"/>
          <p:cNvSpPr/>
          <p:nvPr/>
        </p:nvSpPr>
        <p:spPr>
          <a:xfrm>
            <a:off x="10877550" y="509587"/>
            <a:ext cx="133350" cy="133350"/>
          </a:xfrm>
          <a:prstGeom prst="roundRect">
            <a:avLst>
              <a:gd fmla="val 21428" name="adj"/>
            </a:avLst>
          </a:prstGeom>
          <a:solidFill>
            <a:srgbClr val="FF5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6"/>
          <p:cNvSpPr txBox="1"/>
          <p:nvPr/>
        </p:nvSpPr>
        <p:spPr>
          <a:xfrm>
            <a:off x="11087100" y="476250"/>
            <a:ext cx="533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ONROL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26"/>
          <p:cNvSpPr txBox="1"/>
          <p:nvPr/>
        </p:nvSpPr>
        <p:spPr>
          <a:xfrm>
            <a:off x="1314450" y="3003946"/>
            <a:ext cx="10306050" cy="560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4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1" i="0" lang="en-US" sz="1425" u="none" cap="none" strike="noStrike">
                <a:solidFill>
                  <a:srgbClr val="111111"/>
                </a:solidFill>
                <a:latin typeface="Lato"/>
                <a:ea typeface="Lato"/>
                <a:cs typeface="Lato"/>
                <a:sym typeface="Lato"/>
              </a:rPr>
              <a:t>Task 1: Compare Real Output &amp; Speed</a:t>
            </a:r>
            <a:r>
              <a:rPr b="0" i="0" lang="en-US" sz="1425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Pick a regular text or design assignment. Do it once manually, then do it using a specialized AI tool. Record the exact execution times and compare the output qualities side-by-side.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26"/>
          <p:cNvSpPr txBox="1"/>
          <p:nvPr/>
        </p:nvSpPr>
        <p:spPr>
          <a:xfrm>
            <a:off x="1314450" y="3774281"/>
            <a:ext cx="10306050" cy="560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4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1" i="0" lang="en-US" sz="1425" u="none" cap="none" strike="noStrike">
                <a:solidFill>
                  <a:srgbClr val="111111"/>
                </a:solidFill>
                <a:latin typeface="Lato"/>
                <a:ea typeface="Lato"/>
                <a:cs typeface="Lato"/>
                <a:sym typeface="Lato"/>
              </a:rPr>
              <a:t>Task 2: Map Your Working Week</a:t>
            </a:r>
            <a:r>
              <a:rPr b="0" i="0" lang="en-US" sz="1425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Audit your calendar. Identify and list every repetitive, mechanical task. Categorize each task and pick the exact tool bucket to tackle it.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26"/>
          <p:cNvSpPr txBox="1"/>
          <p:nvPr/>
        </p:nvSpPr>
        <p:spPr>
          <a:xfrm>
            <a:off x="1314450" y="4544615"/>
            <a:ext cx="10306050" cy="560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4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1" i="0" lang="en-US" sz="1425" u="none" cap="none" strike="noStrike">
                <a:solidFill>
                  <a:srgbClr val="111111"/>
                </a:solidFill>
                <a:latin typeface="Lato"/>
                <a:ea typeface="Lato"/>
                <a:cs typeface="Lato"/>
                <a:sym typeface="Lato"/>
              </a:rPr>
              <a:t>Task 3: Draft Your Service Offering</a:t>
            </a:r>
            <a:r>
              <a:rPr b="0" i="0" lang="en-US" sz="1425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Formulate a monetization pitch. Connect your professional background with tools to build a custom gig, consulting plan, or packaged product offering.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05" name="Google Shape;305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3027759"/>
            <a:ext cx="1619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6" name="Google Shape;306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3798093"/>
            <a:ext cx="1619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7" name="Google Shape;307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4568428"/>
            <a:ext cx="16192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26"/>
          <p:cNvSpPr txBox="1"/>
          <p:nvPr/>
        </p:nvSpPr>
        <p:spPr>
          <a:xfrm>
            <a:off x="571500" y="1066800"/>
            <a:ext cx="11601450" cy="4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Your </a:t>
            </a:r>
            <a:r>
              <a:rPr b="1" i="0" lang="en-US" sz="3150" u="none" cap="none" strike="noStrike">
                <a:solidFill>
                  <a:srgbClr val="FF5C00"/>
                </a:solidFill>
                <a:latin typeface="Poppins"/>
                <a:ea typeface="Poppins"/>
                <a:cs typeface="Poppins"/>
                <a:sym typeface="Poppins"/>
              </a:rPr>
              <a:t>After-Class Practice Tasks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