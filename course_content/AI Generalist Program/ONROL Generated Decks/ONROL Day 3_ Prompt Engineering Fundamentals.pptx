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Poppins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CF58D24-C958-476C-82A5-49C9AE45EB12}">
  <a:tblStyle styleId="{8CF58D24-C958-476C-82A5-49C9AE45EB1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0" name="Google Shape;24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2" name="Google Shape;26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6.png"/><Relationship Id="rId7" Type="http://schemas.openxmlformats.org/officeDocument/2006/relationships/image" Target="../media/image1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11" Type="http://schemas.openxmlformats.org/officeDocument/2006/relationships/image" Target="../media/image3.png"/><Relationship Id="rId10" Type="http://schemas.openxmlformats.org/officeDocument/2006/relationships/image" Target="../media/image8.png"/><Relationship Id="rId9" Type="http://schemas.openxmlformats.org/officeDocument/2006/relationships/image" Target="../media/image19.png"/><Relationship Id="rId5" Type="http://schemas.openxmlformats.org/officeDocument/2006/relationships/image" Target="../media/image2.png"/><Relationship Id="rId6" Type="http://schemas.openxmlformats.org/officeDocument/2006/relationships/image" Target="../media/image29.png"/><Relationship Id="rId7" Type="http://schemas.openxmlformats.org/officeDocument/2006/relationships/image" Target="../media/image13.png"/><Relationship Id="rId8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32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7.png"/><Relationship Id="rId5" Type="http://schemas.openxmlformats.org/officeDocument/2006/relationships/image" Target="../media/image17.png"/><Relationship Id="rId6" Type="http://schemas.openxmlformats.org/officeDocument/2006/relationships/image" Target="../media/image21.png"/><Relationship Id="rId7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26.png"/><Relationship Id="rId5" Type="http://schemas.openxmlformats.org/officeDocument/2006/relationships/image" Target="../media/image31.png"/><Relationship Id="rId6" Type="http://schemas.openxmlformats.org/officeDocument/2006/relationships/image" Target="../media/image23.png"/><Relationship Id="rId7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481012"/>
            <a:ext cx="26860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A89E9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COHORT EXECUTION WORKSPACE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95875" y="2718048"/>
            <a:ext cx="20002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845343" y="3108573"/>
            <a:ext cx="10501312" cy="6351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Prompt Engineering </a:t>
            </a:r>
            <a:r>
              <a:rPr b="1" i="0" lang="en-US" sz="43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Fundamentals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047875" y="3972371"/>
            <a:ext cx="8096250" cy="66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5DFD8"/>
                </a:solidFill>
                <a:latin typeface="Lato"/>
                <a:ea typeface="Lato"/>
                <a:cs typeface="Lato"/>
                <a:sym typeface="Lato"/>
              </a:rPr>
              <a:t>Mastering instructions that yield precise results. Move beyond casual chats to structured frameworks, step-by-step reasoning, and ecosystem comparisons.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71500" y="481012"/>
            <a:ext cx="9334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A89E9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SECTION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3095625" y="2762250"/>
            <a:ext cx="6000750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Where Prompts Begin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5715000" y="3712815"/>
            <a:ext cx="7620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2286000" y="3941415"/>
            <a:ext cx="7620000" cy="649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E5DFD8"/>
                </a:solidFill>
                <a:latin typeface="Lato"/>
                <a:ea typeface="Lato"/>
                <a:cs typeface="Lato"/>
                <a:sym typeface="Lato"/>
              </a:rPr>
              <a:t>Closing the massive distance between knowing an AI tool exists and composing instructions that extract its highest professional value.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44849"/>
            <a:ext cx="3524250" cy="24767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844849"/>
            <a:ext cx="3524250" cy="24767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96250" y="2844849"/>
            <a:ext cx="3524250" cy="247679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71500" y="481012"/>
            <a:ext cx="18669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WHERE PROMPTS BEGIN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81025" y="4064198"/>
            <a:ext cx="35052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819150" y="3768774"/>
            <a:ext cx="318039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1. Foundations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819150" y="4255060"/>
            <a:ext cx="30291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Days 1–5: Direct chat assistants, prompt anatomy, and establishing core trust-verification habits.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4343400" y="4064198"/>
            <a:ext cx="35052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4581525" y="3768774"/>
            <a:ext cx="318039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2. Workflows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4581525" y="4255060"/>
            <a:ext cx="30291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Days 6–15: Automating multi-step pipelines and building data flows across platforms.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8105775" y="4064198"/>
            <a:ext cx="35052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8343900" y="3768774"/>
            <a:ext cx="3180397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3. Vibe Coding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8343900" y="4239718"/>
            <a:ext cx="30291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Days 16–30: Developing custom programs and lightweight code setups without engineering knowledge.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" y="3187749"/>
            <a:ext cx="45720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81525" y="3187749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3900" y="3187749"/>
            <a:ext cx="4572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5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Our Structured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30-Day Roadmap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481012"/>
            <a:ext cx="962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A89E9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SECTION 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910351" y="2762250"/>
            <a:ext cx="10371296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Why Prompts Fail &amp; The R-T-C-F Cure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715000" y="3712815"/>
            <a:ext cx="7620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2286000" y="3941415"/>
            <a:ext cx="7620000" cy="649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E5DFD8"/>
                </a:solidFill>
                <a:latin typeface="Lato"/>
                <a:ea typeface="Lato"/>
                <a:cs typeface="Lato"/>
                <a:sym typeface="Lato"/>
              </a:rPr>
              <a:t>Most disappointing AI responses stem from starving the model of parameters. Learn the four critical blocks that secure reliable outputs.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93925"/>
            <a:ext cx="2583656" cy="2978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93281" y="2593925"/>
            <a:ext cx="2583656" cy="2978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062" y="2593925"/>
            <a:ext cx="2583656" cy="297864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036843" y="2593925"/>
            <a:ext cx="2583656" cy="297864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571500" y="481012"/>
            <a:ext cx="15335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WHY PROMPTS FAIL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581025" y="4064198"/>
            <a:ext cx="2564606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 txBox="1"/>
          <p:nvPr/>
        </p:nvSpPr>
        <p:spPr>
          <a:xfrm>
            <a:off x="819150" y="3517850"/>
            <a:ext cx="219277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Role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819150" y="4249613"/>
            <a:ext cx="20883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The persona or perspective. Points the model's tone and depth toward your targeted domain expertise.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3402806" y="4064198"/>
            <a:ext cx="2564606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3640931" y="3517850"/>
            <a:ext cx="219277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3640931" y="4249613"/>
            <a:ext cx="20883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The core directive. Uses highly specific action verbs to state the exact deliverable required.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224587" y="4064198"/>
            <a:ext cx="2564606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6462712" y="3517850"/>
            <a:ext cx="219277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6462712" y="4249613"/>
            <a:ext cx="20883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Situation parameters. Supplies crucial facts the AI can never know unless explicitly stated.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9046368" y="4064198"/>
            <a:ext cx="2564606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 txBox="1"/>
          <p:nvPr/>
        </p:nvSpPr>
        <p:spPr>
          <a:xfrm>
            <a:off x="9284493" y="3517850"/>
            <a:ext cx="2192774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Format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9269158" y="4249613"/>
            <a:ext cx="2192700" cy="11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8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Arial"/>
              <a:buNone/>
            </a:pPr>
            <a:r>
              <a:rPr b="0" i="0" lang="en-US" sz="127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The final constraint. Sets target length, visual architecture, tone boundaries, and target language.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9150" y="2936825"/>
            <a:ext cx="2762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640931" y="2936825"/>
            <a:ext cx="361950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62712" y="2936825"/>
            <a:ext cx="314325" cy="361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84493" y="2936825"/>
            <a:ext cx="361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The Four Pillars of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R-T-C-F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0" name="Google Shape;17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89485"/>
            <a:ext cx="5334000" cy="25876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89485"/>
            <a:ext cx="5334000" cy="258767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571500" y="481012"/>
            <a:ext cx="1524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R-T-C-F CURE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6" name="Google Shape;176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3084760"/>
            <a:ext cx="1781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952500" y="3475285"/>
            <a:ext cx="484060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"Write a message about my festival offer."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952500" y="4284910"/>
            <a:ext cx="4610100" cy="796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1" lang="en-US" sz="1350" u="none" cap="none" strike="noStrike">
                <a:solidFill>
                  <a:srgbClr val="6B7280"/>
                </a:solidFill>
                <a:latin typeface="Lato"/>
                <a:ea typeface="Lato"/>
                <a:cs typeface="Lato"/>
                <a:sym typeface="Lato"/>
              </a:rPr>
              <a:t>ChatGPT guesses your business type, region, discount figures, and platform target. The output remains a generic, uninspiring advertisement unusable for direct customer contact.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79" name="Google Shape;179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67500" y="3084760"/>
            <a:ext cx="20097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6667500" y="3475285"/>
            <a:ext cx="4840605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"You are a friendly Hyderabad shopkeeper..."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6667500" y="4284910"/>
            <a:ext cx="4610100" cy="7969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"Write a WhatsApp message. My electronics shop offers 20% off mixers and fans until month-end. Target local families warmly. Keep under 50 words in simple English."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Instruction Shifts: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Before vs. After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571500" y="481012"/>
            <a:ext cx="9620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A89E9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SECTION 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9"/>
          <p:cNvSpPr txBox="1"/>
          <p:nvPr/>
        </p:nvSpPr>
        <p:spPr>
          <a:xfrm>
            <a:off x="1095375" y="2762250"/>
            <a:ext cx="10001250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Four Advanced Steering Techniques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5715000" y="3712815"/>
            <a:ext cx="7620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2286000" y="3941415"/>
            <a:ext cx="7620000" cy="649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E5DFD8"/>
                </a:solidFill>
                <a:latin typeface="Lato"/>
                <a:ea typeface="Lato"/>
                <a:cs typeface="Lato"/>
                <a:sym typeface="Lato"/>
              </a:rPr>
              <a:t>Professional workflows are rarely built on single exchanges. Master the simple back-and-forth loops that drive precision.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8" name="Google Shape;19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571500" y="481012"/>
            <a:ext cx="18478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STEERING TECHNIQUES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0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952500" y="3032521"/>
            <a:ext cx="4953000" cy="841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Show Examples (Few-Shot):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Provide 1 or 2 reference outputs instead of explaining tone. AI mirrors patterns far better than abstract words.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952500" y="4083248"/>
            <a:ext cx="4953000" cy="841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Ask It to Think First: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Force calculations and complex logic through step-by-step stages, preventing rushed, incorrect assumptions.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6667500" y="3032521"/>
            <a:ext cx="4953000" cy="8411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First Answers are Drafts: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Run iterative refinement loops (e.g., "shorten paragraph 2," "remove technical jargon") instead of restarting chats.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6667500" y="4083248"/>
            <a:ext cx="4953000" cy="28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AI Interviews You: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Instruct: </a:t>
            </a:r>
            <a:r>
              <a:rPr b="0" i="1" lang="en-US" sz="1425" u="none" cap="none" strike="noStrike">
                <a:solidFill>
                  <a:srgbClr val="FF5C00"/>
                </a:solidFill>
                <a:latin typeface="Lato"/>
                <a:ea typeface="Lato"/>
                <a:cs typeface="Lato"/>
                <a:sym typeface="Lato"/>
              </a:rPr>
              <a:t>"Ask me any questions you need first to build the context for a custom tailoring shop launch strategy."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6" name="Google Shape;20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56334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0706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3056334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Active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AI Guidance Loops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512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4" name="Google Shape;21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571500" y="481012"/>
            <a:ext cx="9810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A89E9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SECTION 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1620440" y="2762250"/>
            <a:ext cx="8951118" cy="617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50"/>
              <a:buFont typeface="Arial"/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 Solving &amp; Critical Limits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1"/>
          <p:cNvSpPr/>
          <p:nvPr/>
        </p:nvSpPr>
        <p:spPr>
          <a:xfrm>
            <a:off x="5715000" y="3712815"/>
            <a:ext cx="762000" cy="38100"/>
          </a:xfrm>
          <a:prstGeom prst="rect">
            <a:avLst/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2286000" y="3941415"/>
            <a:ext cx="7620000" cy="649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49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0" i="0" lang="en-US" sz="1650" u="none" cap="none" strike="noStrike">
                <a:solidFill>
                  <a:srgbClr val="E5DFD8"/>
                </a:solidFill>
                <a:latin typeface="Lato"/>
                <a:ea typeface="Lato"/>
                <a:cs typeface="Lato"/>
                <a:sym typeface="Lato"/>
              </a:rPr>
              <a:t>Using AI as an effective thinking partner to evaluate scenarios, while maintaining strict guardrails against confident fabrications.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75644"/>
            <a:ext cx="5334000" cy="26152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775644"/>
            <a:ext cx="5334000" cy="2615207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571500" y="481012"/>
            <a:ext cx="2219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 SOLVING &amp; LIMITS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1" name="Google Shape;23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4400" y="3070919"/>
            <a:ext cx="19050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914400" y="3461444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Interactive Problem Analysis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914400" y="3937694"/>
            <a:ext cx="4648200" cy="1062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Provide actual context (e.g., stationers near a college seeing a sales drop) and ask: </a:t>
            </a:r>
            <a:r>
              <a:rPr b="0" i="1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"Weigh competitor arrival, holiday schedule, and recent price hikes. Outline risk profiles step-by-step."</a:t>
            </a: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It expands your viewpoint under stress.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34" name="Google Shape;234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3070919"/>
            <a:ext cx="2181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 txBox="1"/>
          <p:nvPr/>
        </p:nvSpPr>
        <p:spPr>
          <a:xfrm>
            <a:off x="6629400" y="3461444"/>
            <a:ext cx="48806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1111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"Polished Answer" Trap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2"/>
          <p:cNvSpPr txBox="1"/>
          <p:nvPr/>
        </p:nvSpPr>
        <p:spPr>
          <a:xfrm>
            <a:off x="6629400" y="3937694"/>
            <a:ext cx="4648200" cy="10626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6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AI models optimize for structural fluency, not verified truth. They state fakes, statistics, and references as confidently as genuine facts. </a:t>
            </a:r>
            <a:r>
              <a:rPr b="1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Trust, then verify</a:t>
            </a:r>
            <a:r>
              <a:rPr b="0" i="0" lang="en-US" sz="1350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remains non-negotiable for client-facing work.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The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Thinking Partner</a:t>
            </a: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 Guardrails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3"/>
          <p:cNvSpPr txBox="1"/>
          <p:nvPr/>
        </p:nvSpPr>
        <p:spPr>
          <a:xfrm>
            <a:off x="571500" y="481012"/>
            <a:ext cx="17907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THE TOOL ECOSYSTEM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6" name="Google Shape;246;p23"/>
          <p:cNvGraphicFramePr/>
          <p:nvPr/>
        </p:nvGraphicFramePr>
        <p:xfrm>
          <a:off x="571500" y="305931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{8CF58D24-C958-476C-82A5-49C9AE45EB12}</a:tableStyleId>
              </a:tblPr>
              <a:tblGrid>
                <a:gridCol w="1464475"/>
                <a:gridCol w="2112025"/>
                <a:gridCol w="3955250"/>
                <a:gridCol w="3517250"/>
              </a:tblGrid>
              <a:tr h="511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Tool Name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Core Character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Execution Strength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5"/>
                        <a:buFont typeface="Arial"/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111111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Natural Default Style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AF7"/>
                    </a:solidFill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ChatGPT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Versatile All-Rounder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Brainstorming, drafting emails, creative copy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Direct, conversational, highly flexible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Claude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Precise &amp; Analytical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Long document indexing, complex logic, code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Formal, detailed, intellectually cautious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1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Gemini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Google Ecosystem Sync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Real-time live research, Google Drive integration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75"/>
                        <a:buFont typeface="Arial"/>
                        <a:buNone/>
                      </a:pPr>
                      <a:r>
                        <a:rPr b="0" i="0" lang="en-US" sz="1275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Fluid, search-connected, modern overview</a:t>
                      </a:r>
                      <a:endParaRPr sz="1400" u="none" cap="none" strike="noStrike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7" name="Google Shape;247;p23"/>
          <p:cNvSpPr/>
          <p:nvPr/>
        </p:nvSpPr>
        <p:spPr>
          <a:xfrm>
            <a:off x="571500" y="3616523"/>
            <a:ext cx="1464468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3"/>
          <p:cNvSpPr/>
          <p:nvPr/>
        </p:nvSpPr>
        <p:spPr>
          <a:xfrm>
            <a:off x="2035968" y="3616523"/>
            <a:ext cx="2112019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3"/>
          <p:cNvSpPr/>
          <p:nvPr/>
        </p:nvSpPr>
        <p:spPr>
          <a:xfrm>
            <a:off x="4147988" y="3616523"/>
            <a:ext cx="3955256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3"/>
          <p:cNvSpPr/>
          <p:nvPr/>
        </p:nvSpPr>
        <p:spPr>
          <a:xfrm>
            <a:off x="8103244" y="3616523"/>
            <a:ext cx="3517255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3"/>
          <p:cNvSpPr/>
          <p:nvPr/>
        </p:nvSpPr>
        <p:spPr>
          <a:xfrm>
            <a:off x="571500" y="4111823"/>
            <a:ext cx="1464468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3"/>
          <p:cNvSpPr/>
          <p:nvPr/>
        </p:nvSpPr>
        <p:spPr>
          <a:xfrm>
            <a:off x="2035968" y="4111823"/>
            <a:ext cx="2112019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3"/>
          <p:cNvSpPr/>
          <p:nvPr/>
        </p:nvSpPr>
        <p:spPr>
          <a:xfrm>
            <a:off x="4147988" y="4111823"/>
            <a:ext cx="3955256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8103244" y="4111823"/>
            <a:ext cx="3517255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571500" y="4607123"/>
            <a:ext cx="1464468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2035968" y="4607123"/>
            <a:ext cx="2112019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4147988" y="4607123"/>
            <a:ext cx="3955256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8103244" y="4607123"/>
            <a:ext cx="3517255" cy="9525"/>
          </a:xfrm>
          <a:prstGeom prst="rect">
            <a:avLst/>
          </a:prstGeom>
          <a:solidFill>
            <a:srgbClr val="EDE8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Character &amp; Traits of the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Core Ecosystem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FBFA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4"/>
          <p:cNvSpPr txBox="1"/>
          <p:nvPr/>
        </p:nvSpPr>
        <p:spPr>
          <a:xfrm>
            <a:off x="571500" y="481012"/>
            <a:ext cx="18383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8C857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PRACTICE WORKSPACE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10877550" y="509587"/>
            <a:ext cx="133350" cy="133350"/>
          </a:xfrm>
          <a:prstGeom prst="roundRect">
            <a:avLst>
              <a:gd fmla="val 21428" name="adj"/>
            </a:avLst>
          </a:prstGeom>
          <a:solidFill>
            <a:srgbClr val="FF5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 txBox="1"/>
          <p:nvPr/>
        </p:nvSpPr>
        <p:spPr>
          <a:xfrm>
            <a:off x="11087100" y="476250"/>
            <a:ext cx="533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ONROL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4"/>
          <p:cNvSpPr txBox="1"/>
          <p:nvPr/>
        </p:nvSpPr>
        <p:spPr>
          <a:xfrm>
            <a:off x="1333500" y="2618779"/>
            <a:ext cx="1028700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Task 1: Rewrite a Weak Prompt: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Take a generic, single-line instruction. Upgrade it using all four parts of the </a:t>
            </a: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R-T-C-F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framework. Compare the raw outputs side-by-side to observe structural gains.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4"/>
          <p:cNvSpPr txBox="1"/>
          <p:nvPr/>
        </p:nvSpPr>
        <p:spPr>
          <a:xfrm>
            <a:off x="1333500" y="3389114"/>
            <a:ext cx="1028700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Task 2: Guide via Interview: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Engage the AI to interview you on a problem or decision from your career or studies. Provide background answers, then iterate on its suggested draft across three distinct rounds.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24"/>
          <p:cNvSpPr txBox="1"/>
          <p:nvPr/>
        </p:nvSpPr>
        <p:spPr>
          <a:xfrm>
            <a:off x="1333500" y="4159448"/>
            <a:ext cx="1028700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Task 3: Execute a Three-Way Tool Duel: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Run your redesigned R-T-C-F prompt word-for-word in ChatGPT, Claude, and Gemini. Map their style, depth, and layout differences systematically on the support group.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4"/>
          <p:cNvSpPr txBox="1"/>
          <p:nvPr/>
        </p:nvSpPr>
        <p:spPr>
          <a:xfrm>
            <a:off x="1333500" y="4929782"/>
            <a:ext cx="10287000" cy="5607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111111"/>
                </a:solidFill>
                <a:latin typeface="Lato"/>
                <a:ea typeface="Lato"/>
                <a:cs typeface="Lato"/>
                <a:sym typeface="Lato"/>
              </a:rPr>
              <a:t>Task 4: Build Your Personal Prompt Template:</a:t>
            </a:r>
            <a:r>
              <a:rPr b="0" i="0" lang="en-US" sz="1425" u="none" cap="none" strike="noStrike">
                <a:solidFill>
                  <a:srgbClr val="374151"/>
                </a:solidFill>
                <a:latin typeface="Lato"/>
                <a:ea typeface="Lato"/>
                <a:cs typeface="Lato"/>
                <a:sym typeface="Lato"/>
              </a:rPr>
              <a:t> Complete the starting template on the LMS with five custom-designed R-T-C-F instructions tailored to your specific daily tasks.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2" name="Google Shape;27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64259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412926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418326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4953595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4"/>
          <p:cNvSpPr txBox="1"/>
          <p:nvPr/>
        </p:nvSpPr>
        <p:spPr>
          <a:xfrm>
            <a:off x="571500" y="1066800"/>
            <a:ext cx="11601450" cy="4799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6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50"/>
              <a:buFont typeface="Arial"/>
              <a:buNone/>
            </a:pPr>
            <a:r>
              <a:rPr b="1" i="0" lang="en-US" sz="3150" u="none" cap="none" strike="noStrike">
                <a:solidFill>
                  <a:srgbClr val="111111"/>
                </a:solidFill>
                <a:latin typeface="Poppins"/>
                <a:ea typeface="Poppins"/>
                <a:cs typeface="Poppins"/>
                <a:sym typeface="Poppins"/>
              </a:rPr>
              <a:t>Your </a:t>
            </a:r>
            <a:r>
              <a:rPr b="1" i="0" lang="en-US" sz="3150" u="none" cap="none" strike="noStrike">
                <a:solidFill>
                  <a:srgbClr val="FF5C00"/>
                </a:solidFill>
                <a:latin typeface="Poppins"/>
                <a:ea typeface="Poppins"/>
                <a:cs typeface="Poppins"/>
                <a:sym typeface="Poppins"/>
              </a:rPr>
              <a:t>After-Class Practice Tasks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