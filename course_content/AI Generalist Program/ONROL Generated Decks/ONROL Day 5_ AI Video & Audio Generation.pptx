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B59F2B-6DB8-422C-8D2F-E52E18FB92CD}">
  <a:tblStyle styleId="{BAB59F2B-6DB8-422C-8D2F-E52E18FB92C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22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481012"/>
            <a:ext cx="2686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COHORT EXECUTION WORKSPACE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5875" y="2552253"/>
            <a:ext cx="20002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865471" y="2942778"/>
            <a:ext cx="8461057" cy="635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Video &amp; Audio </a:t>
            </a:r>
            <a:r>
              <a:rPr b="1" i="0" lang="en-US" sz="43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047875" y="3806576"/>
            <a:ext cx="8096250" cy="9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Mastering synthetic media pipelines. Learn to build high-converting presenter videos, generate rich voiceovers, compose jingles, and confidently detect synthetic tells.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481012"/>
            <a:ext cx="933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SECTION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3085623" y="2762250"/>
            <a:ext cx="6020752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From Static to Moving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715000" y="3712815"/>
            <a:ext cx="7620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2286000" y="3941415"/>
            <a:ext cx="7620000" cy="64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Closing Module 1 by transitioning from media that sits perfectly still—text and images—to high-converting media that moves, explains, and speaks.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44849"/>
            <a:ext cx="3524250" cy="24767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844849"/>
            <a:ext cx="3524250" cy="24767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844849"/>
            <a:ext cx="3524250" cy="247679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481012"/>
            <a:ext cx="2390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ORIENTATION: MOVING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81025" y="4064198"/>
            <a:ext cx="35052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819150" y="3768774"/>
            <a:ext cx="318039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Video from Words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19150" y="4285745"/>
            <a:ext cx="3029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Generating short, cinematic scenes directly from textual descriptions using predictive engines like </a:t>
            </a:r>
            <a:r>
              <a:rPr b="1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Veo3</a:t>
            </a: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Flow</a:t>
            </a: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4343400" y="4064198"/>
            <a:ext cx="35052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4581525" y="3768774"/>
            <a:ext cx="318039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Presenters &amp; Avatars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4581525" y="4270403"/>
            <a:ext cx="3029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Creating voice-driven presenters or slide-based narrations cleanly and rapidly with </a:t>
            </a:r>
            <a:r>
              <a:rPr b="1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HeyGen</a:t>
            </a: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Google Vids</a:t>
            </a: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8105775" y="4064198"/>
            <a:ext cx="35052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8343900" y="3768774"/>
            <a:ext cx="318039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Audio Synthesis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8343900" y="4239718"/>
            <a:ext cx="3029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Synthesising professional, lifelike spoken </a:t>
            </a:r>
            <a:r>
              <a:rPr lang="en-US" sz="1275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voice overs</a:t>
            </a: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, cloned tracks, or custom brand jingles via tools like </a:t>
            </a:r>
            <a:r>
              <a:rPr b="1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Suno</a:t>
            </a: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3187749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1525" y="3187749"/>
            <a:ext cx="3143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3187749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The Three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Toolkit Families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481012"/>
            <a:ext cx="962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SECTION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1435417" y="2762250"/>
            <a:ext cx="9321165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Mechanics of Video Synthesis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715000" y="3712815"/>
            <a:ext cx="7620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2286000" y="3941415"/>
            <a:ext cx="7620000" cy="64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Understanding how predictive diffusion models transition from single-frame static noise to temporally consistent moving visuals.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70907"/>
            <a:ext cx="5334000" cy="2224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970907"/>
            <a:ext cx="5334000" cy="222468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481012"/>
            <a:ext cx="2105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MECHANICS OF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952500" y="3266182"/>
            <a:ext cx="484060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Temporal Consistency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3742432"/>
            <a:ext cx="4610100" cy="1062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 video is merely frames in quick succession. If generated frame-by-frame, they flicker. Advanced video generators predict pixels as a single connected sequence so objects hold their physical identity securely.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6667500" y="3266182"/>
            <a:ext cx="484060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Computational Limit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6667500" y="3742432"/>
            <a:ext cx="4610100" cy="1062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Because keeping a synthetic world consistent across time is heavily demanding, AI video clips are naturally short (4-5 seconds). Generalists plan ahead by combining short, highly controlled scenes.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Consistency Over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Time &amp; Scale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8957"/>
            <a:ext cx="5334000" cy="2948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08957"/>
            <a:ext cx="5334000" cy="294858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481012"/>
            <a:ext cx="1847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PROMPTING FOR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904232"/>
            <a:ext cx="28098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914400" y="3294757"/>
            <a:ext cx="488061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"A cup of coffee in a South Indian cafe..."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914400" y="4104382"/>
            <a:ext cx="4648200" cy="1062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"A steaming cup of filter coffee on a wooden table, gentle morning light through a window, slow camera push-in towards the cup, a hand placing a plate of medu vada beside it, warm and inviting mood, 5s."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2904232"/>
            <a:ext cx="22098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6629400" y="3294757"/>
            <a:ext cx="488061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"A handcrafted leather bag slowly turned..."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6629400" y="4104382"/>
            <a:ext cx="4648200" cy="1062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"A handcrafted brown leather handbag resting on a marble surface, soft studio lighting, a woman’s hand slowly lifting the bag by its strap and turning it gently to show the premium stitching, 4s."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Describing Shots: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Two Key Patterns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571500" y="481012"/>
            <a:ext cx="962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SECTION 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1475422" y="2762250"/>
            <a:ext cx="9241155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Avatars and Explainer Presenters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5715000" y="3712815"/>
            <a:ext cx="7620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2286000" y="3941415"/>
            <a:ext cx="7620000" cy="64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Bypassing slow studio production. Put highly realistic digital spokespeople on screen or generate beautifully narrated presentation slides.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70907"/>
            <a:ext cx="5334000" cy="22246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970907"/>
            <a:ext cx="5334000" cy="222468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71500" y="481012"/>
            <a:ext cx="1943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AVATARS &amp; PRESENTERS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952500" y="3266182"/>
            <a:ext cx="484060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HeyGen: Audio-Driven Avatars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952500" y="3742432"/>
            <a:ext cx="4610100" cy="1062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Maps speech sounds to mouth shapes (visemes) on a digital face. Great for course intros or welcomes (e.g., Vidya Coaching Centre). Watch out: faces can look slightly steady; mouth moves but eyes remain neutral.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6667500" y="3266182"/>
            <a:ext cx="484060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Google Vids: Slide Explainers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6667500" y="3742432"/>
            <a:ext cx="4610100" cy="1062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Turns outlines, documents, or slides into narrated process explainers or internal training decks. It features automatic slide layouts, visual transitions, and smooth, professional voiceovers.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Spokespeople vs.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Slide Explainers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571500" y="481012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SECTION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2490549" y="2762250"/>
            <a:ext cx="7210901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Audio Synthesis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715000" y="3712815"/>
            <a:ext cx="7620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2286000" y="3941415"/>
            <a:ext cx="7620000" cy="64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Generating professional speech narration, cloned voice metrics, and licensed-free musical scores from plain language parameters.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71500" y="481012"/>
            <a:ext cx="2171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VOICE &amp; MUSIC SYNTHESIS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952500" y="2892325"/>
            <a:ext cx="4953000" cy="1121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The Prosody Challenge: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Spoken AI excels at spelling but struggles with melody and stress. It is ideal for clear informational narration but less suited for deep emotional ranges.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952500" y="4223444"/>
            <a:ext cx="4953000" cy="841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Write for the Ear: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When generating voiceovers, use short sentences and strategic punctuation to signal natural breathing pauses to the speech engine.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6667500" y="2892325"/>
            <a:ext cx="495300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Suno Jingle Creation: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Generate complete songs with lyrics. Hindi example: </a:t>
            </a:r>
            <a:r>
              <a:rPr b="0" i="1" lang="en-US" sz="1425" u="none" cap="none" strike="noStrike">
                <a:solidFill>
                  <a:srgbClr val="FF5C00"/>
                </a:solidFill>
                <a:latin typeface="Lato"/>
                <a:ea typeface="Lato"/>
                <a:cs typeface="Lato"/>
                <a:sym typeface="Lato"/>
              </a:rPr>
              <a:t>"An upbeat, cheerful Hindi jingle, light percussion, catchy melody, festive Diwali garment store sale."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6667500" y="3954163"/>
            <a:ext cx="49530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Zero Copyright Hassles: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Create brand soundtracks without licensing fines or platform audio takedowns.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16138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47257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91613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962633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Unlocking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Voice &amp; Suno Music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571500" y="481012"/>
            <a:ext cx="2324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SPOTTING SYNTHETIC 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1" name="Google Shape;231;p23"/>
          <p:cNvGraphicFramePr/>
          <p:nvPr/>
        </p:nvGraphicFramePr>
        <p:xfrm>
          <a:off x="571500" y="2621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{BAB59F2B-6DB8-422C-8D2F-E52E18FB92CD}</a:tableStyleId>
              </a:tblPr>
              <a:tblGrid>
                <a:gridCol w="1604225"/>
                <a:gridCol w="3497750"/>
                <a:gridCol w="4002425"/>
                <a:gridCol w="1944600"/>
              </a:tblGrid>
              <a:tr h="73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Media Format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Obvious AI Tells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 Root Mechanism Cause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Lasting Defense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7"/>
                    </a:solidFill>
                  </a:tcPr>
                </a:tc>
              </a:tr>
              <a:tr h="73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Video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Flickering teeth, warped fingers, shimmery edges.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Approximate visual prediction instead of physical modeling.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Verify source origins.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Spoken Audio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Overly clean syllables, missing breaths, flat rhythm.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Predicting cadence directly from unannotated text.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Query who published it.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Avatars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Odd lip drift, static forehead, unblinking eyes.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Sound driving mouth shapes (visemes) on static meshes.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Confirm explicit consent.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2" name="Google Shape;232;p23"/>
          <p:cNvSpPr/>
          <p:nvPr/>
        </p:nvSpPr>
        <p:spPr>
          <a:xfrm>
            <a:off x="571500" y="3454598"/>
            <a:ext cx="160421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2175718" y="3454598"/>
            <a:ext cx="349775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673476" y="3454598"/>
            <a:ext cx="4002434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9675911" y="3454598"/>
            <a:ext cx="194458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71500" y="4149923"/>
            <a:ext cx="160421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2175718" y="4149923"/>
            <a:ext cx="349775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673476" y="4149923"/>
            <a:ext cx="4002434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9675911" y="4149923"/>
            <a:ext cx="194458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4845248"/>
            <a:ext cx="160421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2175718" y="4845248"/>
            <a:ext cx="349775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673476" y="4845248"/>
            <a:ext cx="4002434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9675911" y="4845248"/>
            <a:ext cx="194458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How to Spot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Synthetic Tells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571500" y="481012"/>
            <a:ext cx="971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SECTION 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1655444" y="2762250"/>
            <a:ext cx="8881110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Workspace Practice Challenges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715000" y="3712815"/>
            <a:ext cx="7620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2286000" y="3941415"/>
            <a:ext cx="7620000" cy="64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Complete your Module 1 milestone. Move from passive orientation directly to shipping high-end generated video and audio.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571500" y="481012"/>
            <a:ext cx="1838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PRACTICE WORKSPACE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1333500" y="2618779"/>
            <a:ext cx="1028700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Task 1: Generate a short promo clip (Veo3):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Write a detailed description naming Subject, Action, Setting, and Look. Keep motion extremely simple and smooth.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1333500" y="3389114"/>
            <a:ext cx="1028700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Task 2: Build an Avatar Intro (HeyGen):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Write a friendly one-minute script introducing a real-world service or business. Use a standard tool-provided avatar (no fakes!).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1333500" y="4159448"/>
            <a:ext cx="1028700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Task 3: Compose an Original Jingle (Suno):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Generate a short 15-second jingle. State the genre, language, specific instruments, and occasion clearly in the prompt.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1333500" y="4929782"/>
            <a:ext cx="1028700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Task 4: Critical Synthetic Sifting: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Locate an AI video online. List three specific visual tells, and write a 1-sentence note explaining why each happened mechanically.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8" name="Google Shape;2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6425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41292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18326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495359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Your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After-Class Practice 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