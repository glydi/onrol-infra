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Lato"/>
      <p:regular r:id="rId30"/>
      <p:bold r:id="rId31"/>
      <p:italic r:id="rId32"/>
      <p:boldItalic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Poppins SemiBold"/>
      <p:regular r:id="rId38"/>
      <p:bold r:id="rId39"/>
      <p:italic r:id="rId40"/>
      <p:boldItalic r:id="rId41"/>
    </p:embeddedFont>
    <p:embeddedFont>
      <p:font typeface="Poppins ExtraBold"/>
      <p:bold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italic.fntdata"/><Relationship Id="rId20" Type="http://schemas.openxmlformats.org/officeDocument/2006/relationships/slide" Target="slides/slide15.xml"/><Relationship Id="rId42" Type="http://schemas.openxmlformats.org/officeDocument/2006/relationships/font" Target="fonts/PoppinsExtraBold-bold.fntdata"/><Relationship Id="rId41" Type="http://schemas.openxmlformats.org/officeDocument/2006/relationships/font" Target="fonts/PoppinsSemiBold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PoppinsExtraBold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35" Type="http://schemas.openxmlformats.org/officeDocument/2006/relationships/font" Target="fonts/Poppins-bold.fntdata"/><Relationship Id="rId12" Type="http://schemas.openxmlformats.org/officeDocument/2006/relationships/slide" Target="slides/slide7.xml"/><Relationship Id="rId34" Type="http://schemas.openxmlformats.org/officeDocument/2006/relationships/font" Target="fonts/Poppins-regular.fntdata"/><Relationship Id="rId15" Type="http://schemas.openxmlformats.org/officeDocument/2006/relationships/slide" Target="slides/slide10.xml"/><Relationship Id="rId37" Type="http://schemas.openxmlformats.org/officeDocument/2006/relationships/font" Target="fonts/Poppins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-italic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bold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11" Type="http://schemas.openxmlformats.org/officeDocument/2006/relationships/image" Target="../media/image39.png"/><Relationship Id="rId10" Type="http://schemas.openxmlformats.org/officeDocument/2006/relationships/image" Target="../media/image5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9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Relationship Id="rId8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35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image" Target="../media/image58.png"/><Relationship Id="rId8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48.png"/><Relationship Id="rId5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5.png"/><Relationship Id="rId4" Type="http://schemas.openxmlformats.org/officeDocument/2006/relationships/image" Target="../media/image40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47.png"/><Relationship Id="rId5" Type="http://schemas.openxmlformats.org/officeDocument/2006/relationships/image" Target="../media/image51.png"/><Relationship Id="rId6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1.png"/><Relationship Id="rId4" Type="http://schemas.openxmlformats.org/officeDocument/2006/relationships/image" Target="../media/image46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53.png"/><Relationship Id="rId11" Type="http://schemas.openxmlformats.org/officeDocument/2006/relationships/image" Target="../media/image5.png"/><Relationship Id="rId10" Type="http://schemas.openxmlformats.org/officeDocument/2006/relationships/image" Target="../media/image62.png"/><Relationship Id="rId9" Type="http://schemas.openxmlformats.org/officeDocument/2006/relationships/image" Target="../media/image43.png"/><Relationship Id="rId5" Type="http://schemas.openxmlformats.org/officeDocument/2006/relationships/image" Target="../media/image52.png"/><Relationship Id="rId6" Type="http://schemas.openxmlformats.org/officeDocument/2006/relationships/image" Target="../media/image42.png"/><Relationship Id="rId7" Type="http://schemas.openxmlformats.org/officeDocument/2006/relationships/image" Target="../media/image6.png"/><Relationship Id="rId8" Type="http://schemas.openxmlformats.org/officeDocument/2006/relationships/image" Target="../media/image4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Relationship Id="rId4" Type="http://schemas.openxmlformats.org/officeDocument/2006/relationships/image" Target="../media/image54.png"/><Relationship Id="rId9" Type="http://schemas.openxmlformats.org/officeDocument/2006/relationships/image" Target="../media/image1.png"/><Relationship Id="rId5" Type="http://schemas.openxmlformats.org/officeDocument/2006/relationships/image" Target="../media/image63.png"/><Relationship Id="rId6" Type="http://schemas.openxmlformats.org/officeDocument/2006/relationships/image" Target="../media/image50.png"/><Relationship Id="rId7" Type="http://schemas.openxmlformats.org/officeDocument/2006/relationships/image" Target="../media/image61.png"/><Relationship Id="rId8" Type="http://schemas.openxmlformats.org/officeDocument/2006/relationships/image" Target="../media/image5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25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37" y="2012900"/>
            <a:ext cx="900112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7F1E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AI GEN </a:t>
            </a:r>
            <a:r>
              <a:rPr b="0" i="0" lang="en-US" sz="4800" u="none" cap="none" strike="noStrike">
                <a:solidFill>
                  <a:srgbClr val="FF5A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DAY 1</a:t>
            </a:r>
            <a:r>
              <a:rPr b="0" i="0" lang="en-US" sz="4800" u="none" cap="none" strike="noStrike">
                <a:solidFill>
                  <a:srgbClr val="F7F1E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CORE CONTENT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595437" y="3544341"/>
            <a:ext cx="90011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A04D"/>
                </a:solidFill>
                <a:latin typeface="Lato"/>
                <a:ea typeface="Lato"/>
                <a:cs typeface="Lato"/>
                <a:sym typeface="Lato"/>
              </a:rPr>
              <a:t>Welcome &amp; Orientation: From Understanding to Execution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24125" y="4201566"/>
            <a:ext cx="7143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Welcome to the first step of your 30-day journey. Today, we lay down a rock-solid foundation: understanding the core of modern LLMs, using them with ultimate safety, and shifting your mindset from a passenger to a driver.</a:t>
            </a:r>
            <a:endParaRPr/>
          </a:p>
        </p:txBody>
      </p:sp>
      <p:pic>
        <p:nvPicPr>
          <p:cNvPr id="87" name="Google Shape;87;p13" title="Onrol Logo Final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900" y="554575"/>
            <a:ext cx="1477453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143000" y="2282130"/>
            <a:ext cx="914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SECTION 01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143000" y="2663130"/>
            <a:ext cx="9601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 Welcome &amp; Orientation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1143000" y="3566070"/>
            <a:ext cx="952500" cy="5715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143000" y="3908970"/>
            <a:ext cx="7620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Let’s get clear about exactly why this program exists, what we will build together over the next 30 days, and the single core rule that governs our execution workspace.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912" y="6191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11921"/>
            <a:ext cx="5095875" cy="29140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11921"/>
            <a:ext cx="5095875" cy="291405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 What is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 &amp; why does it exist?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57275" y="3369171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Traditional AI Education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57275" y="3816846"/>
            <a:ext cx="45053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Most AI courses today focus heavily on passive academic concepts and dry tool walkthroughs.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57275" y="4391917"/>
            <a:ext cx="45053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Result: You "know about" AI, but cannot execute when faced with a real-world task.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38925" y="3378696"/>
            <a:ext cx="471058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Onrol's Execution Approach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638925" y="3826371"/>
            <a:ext cx="448627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We are strictly built around </a:t>
            </a:r>
            <a:r>
              <a:rPr b="1" i="0" lang="en-US" sz="135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execution</a:t>
            </a:r>
            <a:r>
              <a:rPr b="0" i="0" lang="en-US" sz="135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. Every lesson is designed to help you choose tools, build working solutions, and ship outcomes.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638925" y="4641353"/>
            <a:ext cx="44862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211E"/>
                </a:solidFill>
                <a:latin typeface="Lato"/>
                <a:ea typeface="Lato"/>
                <a:cs typeface="Lato"/>
                <a:sym typeface="Lato"/>
              </a:rPr>
              <a:t>Specifically tailored for non-technical individuals in India to drive real career results.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2854821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38925" y="2864346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251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742307"/>
            <a:ext cx="3397150" cy="2453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7275" y="2742307"/>
            <a:ext cx="3397299" cy="2453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2700" y="2742307"/>
            <a:ext cx="3397150" cy="245328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Your 30-Day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AI Generalist</a:t>
            </a:r>
            <a:r>
              <a:rPr b="1" i="0" lang="en-US" sz="315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 Roadmap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057275" y="3599557"/>
            <a:ext cx="29469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Foundations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057275" y="4047232"/>
            <a:ext cx="28066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Learn core prompting methods, safety guidelines, and gain early tool comfort directly on Day 1 &amp; Day 2.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92550" y="3599557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Workflows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92550" y="4047232"/>
            <a:ext cx="2806749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Build automations that connect distinct platforms. Learn how to map out a trigger, step, and outcome safely.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327975" y="3599557"/>
            <a:ext cx="29469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Vibe Coding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327975" y="4047232"/>
            <a:ext cx="2806600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Step directly into lightweight AI development. Create code tools and publish them without programming experience.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308520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2550" y="308520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27975" y="308520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title="Onrol Logo Final (1)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3900" y="554575"/>
            <a:ext cx="1477453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2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02073"/>
            <a:ext cx="50958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 Our Program's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Execution Tracks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912" y="61912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1190625" y="2137767"/>
            <a:ext cx="46672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Track 1: Zoom Live Sessions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Solely to introduce core, practical ideas. Put your notes away and focus purely on understanding.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190625" y="3095029"/>
            <a:ext cx="46672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Track 2: LMS Daily Practice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Access files, exercises, checklists, and templates 24/7 to practice directly after each live session.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190625" y="4052292"/>
            <a:ext cx="46672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Track 3: Weekend Masterclasses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Longer format, deep-dive discussions to clear all doubts, troubleshoot blockers, and sharpen skills.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098571" y="5232337"/>
            <a:ext cx="4667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The Onrol Rule:</a:t>
            </a:r>
            <a:r>
              <a:rPr b="0" i="0" lang="en-US" sz="142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Never stay stuck alone! If you are blocked for more than 15 minutes, reach out immediately.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62000" y="5104804"/>
            <a:ext cx="5095875" cy="9525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17110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12836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085629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523972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26175" y="2390175"/>
            <a:ext cx="4911775" cy="317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1143000" y="2282130"/>
            <a:ext cx="914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SECTION 02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143000" y="2663130"/>
            <a:ext cx="9601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What is AI?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1143000" y="3566070"/>
            <a:ext cx="952500" cy="5715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143000" y="3908970"/>
            <a:ext cx="7620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Let's cut through the confusing media jargon and build a perfectly clear, robust mental map of Artificial Intelligence, Machine Learning, and Generative AI.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912" y="6191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251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0812" y="2349698"/>
            <a:ext cx="47625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6562" y="3092648"/>
            <a:ext cx="4191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72312" y="3835598"/>
            <a:ext cx="3619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Three Nested Boxes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62000" y="2983110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Instead of treating AI, ML, and GenAI as separate competing technologies, think of them as </a:t>
            </a:r>
            <a:r>
              <a:rPr b="1" i="0" lang="en-US" sz="15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nested layers</a:t>
            </a:r>
            <a:r>
              <a:rPr b="0" i="0" lang="en-US" sz="150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 within the same family.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62000" y="4040385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You cannot reach the innermost capability (creating new things) without understanding the constraints of the outer layers (intelligence and pattern matching).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710362" y="2559248"/>
            <a:ext cx="4343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ARTIFICIAL INTELLIGENCE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710362" y="2864048"/>
            <a:ext cx="4343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1EB"/>
                </a:solidFill>
                <a:latin typeface="Lato"/>
                <a:ea typeface="Lato"/>
                <a:cs typeface="Lato"/>
                <a:sym typeface="Lato"/>
              </a:rPr>
              <a:t>Outermost: Mimics human intelligence to solve tasks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996112" y="3302198"/>
            <a:ext cx="37719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996112" y="3606998"/>
            <a:ext cx="3771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7F1EB"/>
                </a:solidFill>
                <a:latin typeface="Lato"/>
                <a:ea typeface="Lato"/>
                <a:cs typeface="Lato"/>
                <a:sym typeface="Lato"/>
              </a:rPr>
              <a:t>Middle: Learns patterns from examples instead of rules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7281862" y="4045148"/>
            <a:ext cx="3200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GENERATIVE AI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281862" y="4349948"/>
            <a:ext cx="3200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Innermost: Creates entirely brand-new content</a:t>
            </a:r>
            <a:endParaRPr/>
          </a:p>
        </p:txBody>
      </p:sp>
      <p:pic>
        <p:nvPicPr>
          <p:cNvPr id="180" name="Google Shape;180;p19" title="Onrol Logo Final (1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3900" y="554575"/>
            <a:ext cx="1477453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07927"/>
            <a:ext cx="5095875" cy="2522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07927"/>
            <a:ext cx="5095875" cy="2522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72175"/>
            <a:ext cx="10668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Rule-Based vs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Example-Based</a:t>
            </a: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 Systems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6124575"/>
            <a:ext cx="1981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C827F"/>
                </a:solidFill>
                <a:latin typeface="Lato"/>
                <a:ea typeface="Lato"/>
                <a:cs typeface="Lato"/>
                <a:sym typeface="Lato"/>
              </a:rPr>
              <a:t>ONROL AI EXECUTION SCHOOL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8953500" y="6124575"/>
            <a:ext cx="2476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C827F"/>
                </a:solidFill>
                <a:latin typeface="Lato"/>
                <a:ea typeface="Lato"/>
                <a:cs typeface="Lato"/>
                <a:sym typeface="Lato"/>
              </a:rPr>
              <a:t>2.3 - 2.4 ML EXAMPLE-BASED PATTERNS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057275" y="356517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Traditional Rules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057275" y="4012852"/>
            <a:ext cx="45053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Humans explicitly write down every rule. To block spam emails, you write: </a:t>
            </a:r>
            <a:r>
              <a:rPr b="0" i="1" lang="en-US" sz="12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"If subject has 'lottery' &amp; sender is unknown → spam."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057275" y="4534644"/>
            <a:ext cx="4505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Drawback:</a:t>
            </a:r>
            <a:r>
              <a:rPr b="0" i="0" lang="en-US" sz="1125" u="none" cap="none" strike="noStrike">
                <a:solidFill>
                  <a:srgbClr val="8C827F"/>
                </a:solidFill>
                <a:latin typeface="Lato"/>
                <a:ea typeface="Lato"/>
                <a:cs typeface="Lato"/>
                <a:sym typeface="Lato"/>
              </a:rPr>
              <a:t> Highly fragile. If spammers slightly change their spelling, the static rules break instantly.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629400" y="356517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Machine Learning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629400" y="4012852"/>
            <a:ext cx="45053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The system is shown thousands of examples of both spam and genuine emails, and works out the underlying patterns on its own.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629400" y="4534644"/>
            <a:ext cx="4505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Result: Learns automatically. Google Photos clusters photos of the same face as it ages, without a human coding the face.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3050827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305082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251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799754"/>
            <a:ext cx="5095875" cy="2338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972175"/>
            <a:ext cx="10668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Box 3: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Generative AI</a:t>
            </a:r>
            <a:r>
              <a:rPr b="1" i="0" lang="en-US" sz="315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 creates new assets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762000" y="6124575"/>
            <a:ext cx="1981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69B98"/>
                </a:solidFill>
                <a:latin typeface="Lato"/>
                <a:ea typeface="Lato"/>
                <a:cs typeface="Lato"/>
                <a:sym typeface="Lato"/>
              </a:rPr>
              <a:t>ONROL AI EXECUTION SCHOOL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8658225" y="6124575"/>
            <a:ext cx="2771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69B98"/>
                </a:solidFill>
                <a:latin typeface="Lato"/>
                <a:ea typeface="Lato"/>
                <a:cs typeface="Lato"/>
                <a:sym typeface="Lato"/>
              </a:rPr>
              <a:t>2.5 SPECIFICS OF GENERATIVE CAPABILITIES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762000" y="2769989"/>
            <a:ext cx="50958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Unlike older analytical AI models that were limited to recognition and classification tasks (e.g. </a:t>
            </a:r>
            <a:r>
              <a:rPr b="0" i="1" lang="en-US" sz="165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"Is this a cat or dog?"</a:t>
            </a:r>
            <a:r>
              <a:rPr b="0" i="0" lang="en-US" sz="165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), Generative AI creates entirely brand-new content.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762000" y="4253507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A04D"/>
                </a:solidFill>
                <a:latin typeface="Lato"/>
                <a:ea typeface="Lato"/>
                <a:cs typeface="Lato"/>
                <a:sym typeface="Lato"/>
              </a:rPr>
              <a:t>When you prompt ChatGPT, Claude, or Gemini, the response is generated uniquely for you in real-time. It did not exist anywhere on earth until you prompted it.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724650" y="3190279"/>
            <a:ext cx="453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i="0" lang="en-US" sz="210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One-of-a-Kind Outputs</a:t>
            </a:r>
            <a:endParaRPr/>
          </a:p>
        </p:txBody>
      </p:sp>
      <p:pic>
        <p:nvPicPr>
          <p:cNvPr descr="image.png" id="213" name="Google Shape;21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50" y="3232087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7153275" y="3733204"/>
            <a:ext cx="38862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Unique Text Drafts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7153275" y="4118967"/>
            <a:ext cx="38862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Tailored Code Packages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7153275" y="4504729"/>
            <a:ext cx="38862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Bespoke Custom Visuals</a:t>
            </a:r>
            <a:endParaRPr/>
          </a:p>
        </p:txBody>
      </p:sp>
      <p:pic>
        <p:nvPicPr>
          <p:cNvPr descr="image.png" id="217" name="Google Shape;21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76654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15230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53806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title="Onrol Logo Final (1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3900" y="554575"/>
            <a:ext cx="1477453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1143000" y="2453580"/>
            <a:ext cx="914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SECTION 03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1143000" y="2834580"/>
            <a:ext cx="9601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AI in Your Life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1143000" y="3737520"/>
            <a:ext cx="952500" cy="5715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1143000" y="408042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You have already been using AI daily for years. Now, we reframe your role entirely—transitioning you from a passive passenger to an active driver.</a:t>
            </a:r>
            <a:endParaRPr/>
          </a:p>
        </p:txBody>
      </p:sp>
      <p:pic>
        <p:nvPicPr>
          <p:cNvPr id="230" name="Google Shape;2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821185"/>
            <a:ext cx="5095875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The Passenger-To-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Driver</a:t>
            </a: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 Reframe</a:t>
            </a:r>
            <a:endParaRPr/>
          </a:p>
        </p:txBody>
      </p:sp>
      <p:pic>
        <p:nvPicPr>
          <p:cNvPr descr="image.png" id="238" name="Google Shape;23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912" y="61912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762000" y="3085504"/>
            <a:ext cx="535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B211E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i="0" lang="en-US" sz="1950" u="none" cap="none" strike="noStrike">
                <a:solidFill>
                  <a:srgbClr val="2B211E"/>
                </a:solidFill>
                <a:latin typeface="Poppins"/>
                <a:ea typeface="Poppins"/>
                <a:cs typeface="Poppins"/>
                <a:sym typeface="Poppins"/>
              </a:rPr>
              <a:t>Hidden AI in Daily Life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638925" y="3125985"/>
            <a:ext cx="471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19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Shift Your Seat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638925" y="3640335"/>
            <a:ext cx="44862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Until today, AI did things </a:t>
            </a:r>
            <a:r>
              <a:rPr b="1" i="0" lang="en-US" sz="135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for you</a:t>
            </a:r>
            <a:r>
              <a:rPr b="0" i="0" lang="en-US" sz="135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in the background. You simply received the output.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638925" y="4297560"/>
            <a:ext cx="44862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From today on, you sit in the driver's seat. You command, structure, and direct the models yourself.</a:t>
            </a:r>
            <a:endParaRPr/>
          </a:p>
        </p:txBody>
      </p:sp>
      <p:pic>
        <p:nvPicPr>
          <p:cNvPr descr="image.png" id="243" name="Google Shape;24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111969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1190625" y="3599854"/>
            <a:ext cx="4667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Google Maps:</a:t>
            </a:r>
            <a:r>
              <a:rPr b="0" i="0" lang="en-US" sz="12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Rerouting you based on real-time traffic speeds.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190625" y="3985617"/>
            <a:ext cx="4667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WhatsApp:</a:t>
            </a:r>
            <a:r>
              <a:rPr b="0" i="0" lang="en-US" sz="12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Autocomplete predicting your next sentence.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1190625" y="4371379"/>
            <a:ext cx="46672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YouTube:</a:t>
            </a:r>
            <a:r>
              <a:rPr b="0" i="0" lang="en-US" sz="12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Recommendation models surfacing videos.</a:t>
            </a:r>
            <a:endParaRPr/>
          </a:p>
        </p:txBody>
      </p:sp>
      <p:pic>
        <p:nvPicPr>
          <p:cNvPr descr="image.png" id="247" name="Google Shape;24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2898" y="3167793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363319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018954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40471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 txBox="1"/>
          <p:nvPr/>
        </p:nvSpPr>
        <p:spPr>
          <a:xfrm>
            <a:off x="1143000" y="2453580"/>
            <a:ext cx="914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SECTION 04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1143000" y="2834580"/>
            <a:ext cx="9601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Using AI Responsibly</a:t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1143000" y="3737520"/>
            <a:ext cx="952500" cy="5715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1143000" y="408042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Using AI well is easy, but making your AI work reliable is a high-value skill. Learn the crucial habits to avoid reputation damage and protect client trust.</a:t>
            </a:r>
            <a:endParaRPr/>
          </a:p>
        </p:txBody>
      </p:sp>
      <p:pic>
        <p:nvPicPr>
          <p:cNvPr id="260" name="Google Shape;2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045023"/>
            <a:ext cx="5095875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 Trust, Then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Verify</a:t>
            </a:r>
            <a:endParaRPr/>
          </a:p>
        </p:txBody>
      </p:sp>
      <p:pic>
        <p:nvPicPr>
          <p:cNvPr descr="image.png" id="268" name="Google Shape;26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912" y="61912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762000" y="3280767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B211E"/>
                </a:solidFill>
                <a:latin typeface="Poppins"/>
                <a:ea typeface="Poppins"/>
                <a:cs typeface="Poppins"/>
                <a:sym typeface="Poppins"/>
              </a:rPr>
              <a:t>The "Highly Capable Intern" Model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762000" y="3699867"/>
            <a:ext cx="50958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Treat AI as a brilliant but sometimes careless assistant. It can do 80% of the writing heavy-lifting in seconds.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762000" y="4385667"/>
            <a:ext cx="50958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But you must check and read everything before it goes out.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7058025" y="3340298"/>
            <a:ext cx="40767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Trust:</a:t>
            </a:r>
            <a:r>
              <a:rPr b="0" i="0" lang="en-US" sz="12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Give it tasks freely. Use it for fast first drafts.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7058025" y="3726060"/>
            <a:ext cx="40767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Verify:</a:t>
            </a:r>
            <a:r>
              <a:rPr b="0" i="0" lang="en-US" sz="12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Cross-check claims, facts, statistics, and dates.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7058025" y="4111823"/>
            <a:ext cx="40767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Accountability:</a:t>
            </a:r>
            <a:r>
              <a:rPr b="0" i="0" lang="en-US" sz="12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If a fact is wrong, you are blamed—not the model.</a:t>
            </a:r>
            <a:endParaRPr/>
          </a:p>
        </p:txBody>
      </p:sp>
      <p:pic>
        <p:nvPicPr>
          <p:cNvPr descr="image.png" id="275" name="Google Shape;27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33736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75939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414516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 txBox="1"/>
          <p:nvPr/>
        </p:nvSpPr>
        <p:spPr>
          <a:xfrm>
            <a:off x="762000" y="115252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Strict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Privacy</a:t>
            </a: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 Guardrails</a:t>
            </a:r>
            <a:endParaRPr/>
          </a:p>
        </p:txBody>
      </p:sp>
      <p:pic>
        <p:nvPicPr>
          <p:cNvPr descr="image.png" id="285" name="Google Shape;285;p26"/>
          <p:cNvPicPr preferRelativeResize="0"/>
          <p:nvPr/>
        </p:nvPicPr>
        <p:blipFill rotWithShape="1">
          <a:blip r:embed="rId4">
            <a:alphaModFix/>
          </a:blip>
          <a:srcRect b="19646" l="0" r="0" t="0"/>
          <a:stretch/>
        </p:blipFill>
        <p:spPr>
          <a:xfrm>
            <a:off x="1085850" y="4261400"/>
            <a:ext cx="4650599" cy="248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762000" y="1870620"/>
            <a:ext cx="11201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B211E"/>
                </a:solidFill>
                <a:latin typeface="Poppins"/>
                <a:ea typeface="Poppins"/>
                <a:cs typeface="Poppins"/>
                <a:sym typeface="Poppins"/>
              </a:rPr>
              <a:t>Protect Your Client &amp; Organization Data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762000" y="2299245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Everything typed into open AI chats is processed externally. Follow one simple, unbreakable rule: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762000" y="269929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"If you would not put it on a public billboard, do not enter it into a standard chatbot."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838200" y="310887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952500" y="310887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Never paste client phone numbers, addresses, or private details.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838200" y="347082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952500" y="3470820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Do not upload sensitive corporate financials.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838200" y="383277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952500" y="3832770"/>
            <a:ext cx="1047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Avoid inputting personal passwords or access codes.</a:t>
            </a:r>
            <a:endParaRPr/>
          </a:p>
        </p:txBody>
      </p:sp>
      <p:pic>
        <p:nvPicPr>
          <p:cNvPr id="295" name="Google Shape;29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7"/>
          <p:cNvSpPr txBox="1"/>
          <p:nvPr/>
        </p:nvSpPr>
        <p:spPr>
          <a:xfrm>
            <a:off x="1143000" y="2097434"/>
            <a:ext cx="914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SECTION 05</a:t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1143000" y="2478434"/>
            <a:ext cx="9601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How LLMs Actually Work</a:t>
            </a:r>
            <a:endParaRPr/>
          </a:p>
        </p:txBody>
      </p:sp>
      <p:sp>
        <p:nvSpPr>
          <p:cNvPr id="303" name="Google Shape;303;p27"/>
          <p:cNvSpPr/>
          <p:nvPr/>
        </p:nvSpPr>
        <p:spPr>
          <a:xfrm>
            <a:off x="1143000" y="4093815"/>
            <a:ext cx="952500" cy="5715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1143000" y="4436715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Large Language Models are incredibly eloquent. But why? Let's peel back the curtain and look at the math and prediction loops that drive their responses.</a:t>
            </a:r>
            <a:endParaRPr/>
          </a:p>
        </p:txBody>
      </p:sp>
      <p:pic>
        <p:nvPicPr>
          <p:cNvPr id="305" name="Google Shape;30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251A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0" name="Google Shape;3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849016"/>
            <a:ext cx="5095875" cy="224001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8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Next-Word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Prediction</a:t>
            </a:r>
            <a:r>
              <a:rPr b="1" i="0" lang="en-US" sz="315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 Machines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762000" y="3061394"/>
            <a:ext cx="535066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A04D"/>
                </a:solidFill>
                <a:latin typeface="Poppins"/>
                <a:ea typeface="Poppins"/>
                <a:cs typeface="Poppins"/>
                <a:sym typeface="Poppins"/>
              </a:rPr>
              <a:t>The Core Engine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762000" y="3575744"/>
            <a:ext cx="50958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Under the hood, an LLM does not "think" or "know" facts like humans do. It is built to do one thing: </a:t>
            </a:r>
            <a:r>
              <a:rPr b="1" i="0" lang="en-US" sz="142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predict the next word</a:t>
            </a:r>
            <a:r>
              <a:rPr b="0" i="0" lang="en-US" sz="1425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762000" y="4297560"/>
            <a:ext cx="50958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By repeating this simple prediction loop continuously, it generates fluent, highly logical paragraphs.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6629400" y="3144291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Simple Mechanics</a:t>
            </a:r>
            <a:endParaRPr/>
          </a:p>
        </p:txBody>
      </p:sp>
      <p:sp>
        <p:nvSpPr>
          <p:cNvPr id="316" name="Google Shape;316;p28"/>
          <p:cNvSpPr txBox="1"/>
          <p:nvPr/>
        </p:nvSpPr>
        <p:spPr>
          <a:xfrm>
            <a:off x="6629400" y="3572916"/>
            <a:ext cx="45053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1. Evaluates your input prompt.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6629400" y="3881437"/>
            <a:ext cx="45053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2. Calculates probability weights for next likely words.</a:t>
            </a:r>
            <a:endParaRPr/>
          </a:p>
        </p:txBody>
      </p:sp>
      <p:sp>
        <p:nvSpPr>
          <p:cNvPr id="318" name="Google Shape;318;p28"/>
          <p:cNvSpPr txBox="1"/>
          <p:nvPr/>
        </p:nvSpPr>
        <p:spPr>
          <a:xfrm>
            <a:off x="6629400" y="4189958"/>
            <a:ext cx="45053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3. Appends chosen word, then predicts the next one.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6629400" y="4593728"/>
            <a:ext cx="45053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A04D"/>
                </a:solidFill>
                <a:latin typeface="Lato"/>
                <a:ea typeface="Lato"/>
                <a:cs typeface="Lato"/>
                <a:sym typeface="Lato"/>
              </a:rPr>
              <a:t>It is pattern completion, scaled up enormously!</a:t>
            </a:r>
            <a:endParaRPr/>
          </a:p>
        </p:txBody>
      </p:sp>
      <p:pic>
        <p:nvPicPr>
          <p:cNvPr descr="image.png" id="320" name="Google Shape;32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3191916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8" title="Onrol Logo Final (1)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900" y="554575"/>
            <a:ext cx="1477453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624137"/>
            <a:ext cx="5095875" cy="268962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Smart Keyboard</a:t>
            </a: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 Analogy</a:t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762000" y="2866132"/>
            <a:ext cx="50958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When you type </a:t>
            </a:r>
            <a:r>
              <a:rPr b="0" i="1" lang="en-US" sz="15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"Good..."</a:t>
            </a:r>
            <a:r>
              <a:rPr b="0" i="0" lang="en-US" sz="15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on your phone, it suggests </a:t>
            </a:r>
            <a:r>
              <a:rPr b="0" i="1" lang="en-US" sz="15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"morning"</a:t>
            </a:r>
            <a:r>
              <a:rPr b="0" i="0" lang="en-US" sz="15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or </a:t>
            </a:r>
            <a:r>
              <a:rPr b="0" i="1" lang="en-US" sz="15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"night"</a:t>
            </a:r>
            <a:r>
              <a:rPr b="0" i="0" lang="en-US" sz="15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 based on past messages.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762000" y="3648967"/>
            <a:ext cx="50958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Your keyboard doesn't understand your thoughts. It simply repeats patterns.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762000" y="4431803"/>
            <a:ext cx="50958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An LLM does exactly this—but trained on a massive portion of the published internet.</a:t>
            </a:r>
            <a:endParaRPr/>
          </a:p>
        </p:txBody>
      </p:sp>
      <p:sp>
        <p:nvSpPr>
          <p:cNvPr id="332" name="Google Shape;332;p29"/>
          <p:cNvSpPr txBox="1"/>
          <p:nvPr/>
        </p:nvSpPr>
        <p:spPr>
          <a:xfrm>
            <a:off x="6616779" y="3957637"/>
            <a:ext cx="453056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Phone Auto-Suggest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6724650" y="4443412"/>
            <a:ext cx="43148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C827F"/>
                </a:solidFill>
                <a:latin typeface="Lato"/>
                <a:ea typeface="Lato"/>
                <a:cs typeface="Lato"/>
                <a:sym typeface="Lato"/>
              </a:rPr>
              <a:t>Keyboard = Small-scale pattern tracker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8C827F"/>
                </a:solidFill>
                <a:latin typeface="Lato"/>
                <a:ea typeface="Lato"/>
                <a:cs typeface="Lato"/>
                <a:sym typeface="Lato"/>
              </a:rPr>
              <a:t> LLM = Giant-scale pattern tracker</a:t>
            </a:r>
            <a:endParaRPr/>
          </a:p>
        </p:txBody>
      </p:sp>
      <p:pic>
        <p:nvPicPr>
          <p:cNvPr descr="image.png" id="334" name="Google Shape;33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5825" y="3090862"/>
            <a:ext cx="75247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251A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0" name="Google Shape;34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985194"/>
            <a:ext cx="5095875" cy="1967507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0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Why LLMs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Hallucinate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762000" y="3302198"/>
            <a:ext cx="8667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FF5A0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2009775" y="3694658"/>
            <a:ext cx="3848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A04D"/>
                </a:solidFill>
                <a:latin typeface="Lato"/>
                <a:ea typeface="Lato"/>
                <a:cs typeface="Lato"/>
                <a:sym typeface="Lato"/>
              </a:rPr>
              <a:t>Internal database lookup checks run by standard LLMs during inference.</a:t>
            </a:r>
            <a:endParaRPr/>
          </a:p>
        </p:txBody>
      </p:sp>
      <p:sp>
        <p:nvSpPr>
          <p:cNvPr id="344" name="Google Shape;344;p30"/>
          <p:cNvSpPr txBox="1"/>
          <p:nvPr/>
        </p:nvSpPr>
        <p:spPr>
          <a:xfrm>
            <a:off x="6629400" y="3280469"/>
            <a:ext cx="473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i="0" lang="en-US" sz="180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Confident Mistakes</a:t>
            </a: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6629400" y="3709094"/>
            <a:ext cx="45053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Because they optimize for </a:t>
            </a:r>
            <a:r>
              <a:rPr b="1" i="0" lang="en-US" sz="12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fluency</a:t>
            </a:r>
            <a:r>
              <a:rPr b="0" i="0" lang="en-US" sz="120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2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probabilities</a:t>
            </a:r>
            <a:r>
              <a:rPr b="0" i="0" lang="en-US" sz="120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 rather than verified facts, they will generate names, books, or studies that sound absolutely perfect but are completely fake.</a:t>
            </a:r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6629400" y="4444156"/>
            <a:ext cx="45053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This is why our core "Trust, then Verify" model is non-negotiable.</a:t>
            </a:r>
            <a:endParaRPr/>
          </a:p>
        </p:txBody>
      </p:sp>
      <p:pic>
        <p:nvPicPr>
          <p:cNvPr descr="image.png" id="347" name="Google Shape;34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058" y="331275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0" title="Onrol Logo Final (1)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900" y="554575"/>
            <a:ext cx="1477453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3" name="Google Shape;35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1"/>
          <p:cNvSpPr txBox="1"/>
          <p:nvPr/>
        </p:nvSpPr>
        <p:spPr>
          <a:xfrm>
            <a:off x="1143000" y="2282130"/>
            <a:ext cx="914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SECTION 06</a:t>
            </a:r>
            <a:endParaRPr/>
          </a:p>
        </p:txBody>
      </p:sp>
      <p:sp>
        <p:nvSpPr>
          <p:cNvPr id="355" name="Google Shape;355;p31"/>
          <p:cNvSpPr txBox="1"/>
          <p:nvPr/>
        </p:nvSpPr>
        <p:spPr>
          <a:xfrm>
            <a:off x="1143000" y="2663130"/>
            <a:ext cx="9601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The AI Ecosystem</a:t>
            </a:r>
            <a:endParaRPr/>
          </a:p>
        </p:txBody>
      </p:sp>
      <p:sp>
        <p:nvSpPr>
          <p:cNvPr id="356" name="Google Shape;356;p31"/>
          <p:cNvSpPr/>
          <p:nvPr/>
        </p:nvSpPr>
        <p:spPr>
          <a:xfrm>
            <a:off x="1143000" y="3566070"/>
            <a:ext cx="952500" cy="5715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1143000" y="3908970"/>
            <a:ext cx="76200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ChatGPT, Claude, and Gemini are the powerhouses of today's workspace. Let's look at what each tool is built for and build your generalist tool-selection judgement.</a:t>
            </a:r>
            <a:endParaRPr/>
          </a:p>
        </p:txBody>
      </p:sp>
      <p:pic>
        <p:nvPicPr>
          <p:cNvPr id="358" name="Google Shape;35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3" name="Google Shape;3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22215"/>
            <a:ext cx="3397150" cy="2493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275" y="2722215"/>
            <a:ext cx="3397299" cy="2493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700" y="2722215"/>
            <a:ext cx="3397150" cy="249346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2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 Meet Your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Core Ecosystem</a:t>
            </a:r>
            <a:endParaRPr/>
          </a:p>
        </p:txBody>
      </p:sp>
      <p:pic>
        <p:nvPicPr>
          <p:cNvPr descr="image.png" id="368" name="Google Shape;368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3912" y="61912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2"/>
          <p:cNvSpPr txBox="1"/>
          <p:nvPr/>
        </p:nvSpPr>
        <p:spPr>
          <a:xfrm>
            <a:off x="1057275" y="3617565"/>
            <a:ext cx="29469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ChatGPT (OpenAI)</a:t>
            </a:r>
            <a:endParaRPr/>
          </a:p>
        </p:txBody>
      </p:sp>
      <p:sp>
        <p:nvSpPr>
          <p:cNvPr id="370" name="Google Shape;370;p32"/>
          <p:cNvSpPr txBox="1"/>
          <p:nvPr/>
        </p:nvSpPr>
        <p:spPr>
          <a:xfrm>
            <a:off x="1057275" y="4065240"/>
            <a:ext cx="2806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Default All-Rounder</a:t>
            </a:r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1057275" y="4360515"/>
            <a:ext cx="280660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Incredibly fast, versatile, and direct. Great for ideation, brainstorming, and routine copywriting tasks.</a:t>
            </a:r>
            <a:endParaRPr/>
          </a:p>
        </p:txBody>
      </p:sp>
      <p:sp>
        <p:nvSpPr>
          <p:cNvPr id="372" name="Google Shape;372;p32"/>
          <p:cNvSpPr txBox="1"/>
          <p:nvPr/>
        </p:nvSpPr>
        <p:spPr>
          <a:xfrm>
            <a:off x="4692550" y="3617565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Claude (Anthropic)</a:t>
            </a:r>
            <a:endParaRPr/>
          </a:p>
        </p:txBody>
      </p:sp>
      <p:sp>
        <p:nvSpPr>
          <p:cNvPr id="373" name="Google Shape;373;p32"/>
          <p:cNvSpPr txBox="1"/>
          <p:nvPr/>
        </p:nvSpPr>
        <p:spPr>
          <a:xfrm>
            <a:off x="4692550" y="4065240"/>
            <a:ext cx="28067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Precise &amp; Analytical</a:t>
            </a:r>
            <a:endParaRPr/>
          </a:p>
        </p:txBody>
      </p:sp>
      <p:sp>
        <p:nvSpPr>
          <p:cNvPr id="374" name="Google Shape;374;p32"/>
          <p:cNvSpPr txBox="1"/>
          <p:nvPr/>
        </p:nvSpPr>
        <p:spPr>
          <a:xfrm>
            <a:off x="4692550" y="4360515"/>
            <a:ext cx="2806749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Superior long-document analysis, coding, precise logic, and formal tone structures.</a:t>
            </a:r>
            <a:endParaRPr/>
          </a:p>
        </p:txBody>
      </p:sp>
      <p:sp>
        <p:nvSpPr>
          <p:cNvPr id="375" name="Google Shape;375;p32"/>
          <p:cNvSpPr txBox="1"/>
          <p:nvPr/>
        </p:nvSpPr>
        <p:spPr>
          <a:xfrm>
            <a:off x="8327975" y="3617565"/>
            <a:ext cx="29469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Gemini (Google)</a:t>
            </a:r>
            <a:endParaRPr/>
          </a:p>
        </p:txBody>
      </p:sp>
      <p:sp>
        <p:nvSpPr>
          <p:cNvPr id="376" name="Google Shape;376;p32"/>
          <p:cNvSpPr txBox="1"/>
          <p:nvPr/>
        </p:nvSpPr>
        <p:spPr>
          <a:xfrm>
            <a:off x="8327975" y="4065240"/>
            <a:ext cx="2806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Search Connected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8327975" y="4360515"/>
            <a:ext cx="280660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Direct Google ecosystem integration (Gmail, Drive, Docs) and real-time live web search results.</a:t>
            </a:r>
            <a:endParaRPr/>
          </a:p>
        </p:txBody>
      </p:sp>
      <p:pic>
        <p:nvPicPr>
          <p:cNvPr descr="image.png" id="378" name="Google Shape;378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310321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2550" y="3103215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27975" y="310321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251A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3"/>
          <p:cNvSpPr txBox="1"/>
          <p:nvPr/>
        </p:nvSpPr>
        <p:spPr>
          <a:xfrm>
            <a:off x="1143000" y="2453580"/>
            <a:ext cx="914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SECTION 07</a:t>
            </a:r>
            <a:endParaRPr/>
          </a:p>
        </p:txBody>
      </p:sp>
      <p:sp>
        <p:nvSpPr>
          <p:cNvPr id="387" name="Google Shape;387;p33"/>
          <p:cNvSpPr txBox="1"/>
          <p:nvPr/>
        </p:nvSpPr>
        <p:spPr>
          <a:xfrm>
            <a:off x="1143000" y="2834580"/>
            <a:ext cx="9601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 Your Daily Toolkit</a:t>
            </a:r>
            <a:endParaRPr/>
          </a:p>
        </p:txBody>
      </p:sp>
      <p:sp>
        <p:nvSpPr>
          <p:cNvPr id="388" name="Google Shape;388;p33"/>
          <p:cNvSpPr/>
          <p:nvPr/>
        </p:nvSpPr>
        <p:spPr>
          <a:xfrm>
            <a:off x="1143000" y="3737520"/>
            <a:ext cx="952500" cy="5715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1143000" y="408042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Let's run a quick workspace check. Verify your account setups, map where each tool shines, and lay down your post-class practice challenges.</a:t>
            </a:r>
            <a:endParaRPr/>
          </a:p>
        </p:txBody>
      </p:sp>
      <p:pic>
        <p:nvPicPr>
          <p:cNvPr id="390" name="Google Shape;390;p33" title="Onrol Logo Final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900" y="554575"/>
            <a:ext cx="1477453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5" name="Google Shape;39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12864"/>
            <a:ext cx="5095875" cy="211216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4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1412"/>
                </a:solidFill>
                <a:latin typeface="Poppins"/>
                <a:ea typeface="Poppins"/>
                <a:cs typeface="Poppins"/>
                <a:sym typeface="Poppins"/>
              </a:rPr>
              <a:t> Setting Up For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Execution</a:t>
            </a:r>
            <a:endParaRPr/>
          </a:p>
        </p:txBody>
      </p:sp>
      <p:sp>
        <p:nvSpPr>
          <p:cNvPr id="398" name="Google Shape;398;p34"/>
          <p:cNvSpPr txBox="1"/>
          <p:nvPr/>
        </p:nvSpPr>
        <p:spPr>
          <a:xfrm>
            <a:off x="762000" y="2902148"/>
            <a:ext cx="535066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B211E"/>
                </a:solidFill>
                <a:latin typeface="Poppins"/>
                <a:ea typeface="Poppins"/>
                <a:cs typeface="Poppins"/>
                <a:sym typeface="Poppins"/>
              </a:rPr>
              <a:t>Tool Access Check</a:t>
            </a:r>
            <a:endParaRPr/>
          </a:p>
        </p:txBody>
      </p:sp>
      <p:sp>
        <p:nvSpPr>
          <p:cNvPr id="399" name="Google Shape;399;p34"/>
          <p:cNvSpPr txBox="1"/>
          <p:nvPr/>
        </p:nvSpPr>
        <p:spPr>
          <a:xfrm>
            <a:off x="762000" y="4578548"/>
            <a:ext cx="5095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C827F"/>
                </a:solidFill>
                <a:latin typeface="Lato"/>
                <a:ea typeface="Lato"/>
                <a:cs typeface="Lato"/>
                <a:sym typeface="Lato"/>
              </a:rPr>
              <a:t>If blocked on any access steps, ping our technical support Slack group immediately.</a:t>
            </a:r>
            <a:endParaRPr/>
          </a:p>
        </p:txBody>
      </p:sp>
      <p:sp>
        <p:nvSpPr>
          <p:cNvPr id="400" name="Google Shape;400;p34"/>
          <p:cNvSpPr txBox="1"/>
          <p:nvPr/>
        </p:nvSpPr>
        <p:spPr>
          <a:xfrm>
            <a:off x="6638925" y="3217664"/>
            <a:ext cx="471058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Make It Daily</a:t>
            </a:r>
            <a:endParaRPr/>
          </a:p>
        </p:txBody>
      </p:sp>
      <p:sp>
        <p:nvSpPr>
          <p:cNvPr id="401" name="Google Shape;401;p34"/>
          <p:cNvSpPr txBox="1"/>
          <p:nvPr/>
        </p:nvSpPr>
        <p:spPr>
          <a:xfrm>
            <a:off x="6638925" y="3665339"/>
            <a:ext cx="44862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Move from occasional curiosity to everyday workflow integration.</a:t>
            </a:r>
            <a:endParaRPr/>
          </a:p>
        </p:txBody>
      </p:sp>
      <p:sp>
        <p:nvSpPr>
          <p:cNvPr id="402" name="Google Shape;402;p34"/>
          <p:cNvSpPr txBox="1"/>
          <p:nvPr/>
        </p:nvSpPr>
        <p:spPr>
          <a:xfrm>
            <a:off x="6638925" y="4240410"/>
            <a:ext cx="44862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Start asking on every task: "Can AI help me draft, rewrite, summarize, or simplify this?"</a:t>
            </a:r>
            <a:endParaRPr/>
          </a:p>
        </p:txBody>
      </p:sp>
      <p:pic>
        <p:nvPicPr>
          <p:cNvPr descr="image.png" id="403" name="Google Shape;40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959298"/>
            <a:ext cx="1905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4"/>
          <p:cNvSpPr txBox="1"/>
          <p:nvPr/>
        </p:nvSpPr>
        <p:spPr>
          <a:xfrm>
            <a:off x="1190625" y="3416498"/>
            <a:ext cx="4667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Confirm active login credentials for </a:t>
            </a:r>
            <a:r>
              <a:rPr b="1" i="0" lang="en-US" sz="12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ChatGPT</a:t>
            </a:r>
            <a:endParaRPr/>
          </a:p>
        </p:txBody>
      </p:sp>
      <p:sp>
        <p:nvSpPr>
          <p:cNvPr id="405" name="Google Shape;405;p34"/>
          <p:cNvSpPr txBox="1"/>
          <p:nvPr/>
        </p:nvSpPr>
        <p:spPr>
          <a:xfrm>
            <a:off x="1190625" y="3787973"/>
            <a:ext cx="4667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Confirm active login credentials for </a:t>
            </a:r>
            <a:r>
              <a:rPr b="1" i="0" lang="en-US" sz="12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Claude</a:t>
            </a:r>
            <a:endParaRPr/>
          </a:p>
        </p:txBody>
      </p:sp>
      <p:sp>
        <p:nvSpPr>
          <p:cNvPr id="406" name="Google Shape;406;p34"/>
          <p:cNvSpPr txBox="1"/>
          <p:nvPr/>
        </p:nvSpPr>
        <p:spPr>
          <a:xfrm>
            <a:off x="1190625" y="4159448"/>
            <a:ext cx="4667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Confirm active login credentials for </a:t>
            </a:r>
            <a:r>
              <a:rPr b="1" i="0" lang="en-US" sz="120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Gemini</a:t>
            </a:r>
            <a:endParaRPr/>
          </a:p>
        </p:txBody>
      </p:sp>
      <p:pic>
        <p:nvPicPr>
          <p:cNvPr descr="image.png" id="407" name="Google Shape;407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38925" y="3265289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44983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821310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19278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251A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786062"/>
            <a:ext cx="3397150" cy="2365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97275" y="2786062"/>
            <a:ext cx="3397299" cy="2365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2700" y="2786062"/>
            <a:ext cx="3397150" cy="236577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5"/>
          <p:cNvSpPr txBox="1"/>
          <p:nvPr/>
        </p:nvSpPr>
        <p:spPr>
          <a:xfrm>
            <a:off x="762000" y="1247775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Practice &amp; </a:t>
            </a:r>
            <a:r>
              <a:rPr b="1" i="0" lang="en-US" sz="3150" u="none" cap="none" strike="noStrike">
                <a:solidFill>
                  <a:srgbClr val="FF5A00"/>
                </a:solidFill>
                <a:latin typeface="Poppins"/>
                <a:ea typeface="Poppins"/>
                <a:cs typeface="Poppins"/>
                <a:sym typeface="Poppins"/>
              </a:rPr>
              <a:t>Day 2</a:t>
            </a:r>
            <a:r>
              <a:rPr b="1" i="0" lang="en-US" sz="315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 Roadmap</a:t>
            </a:r>
            <a:endParaRPr/>
          </a:p>
        </p:txBody>
      </p:sp>
      <p:sp>
        <p:nvSpPr>
          <p:cNvPr id="420" name="Google Shape;420;p35"/>
          <p:cNvSpPr txBox="1"/>
          <p:nvPr/>
        </p:nvSpPr>
        <p:spPr>
          <a:xfrm>
            <a:off x="1057275" y="3643312"/>
            <a:ext cx="29469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1. Tool Test</a:t>
            </a:r>
            <a:endParaRPr/>
          </a:p>
        </p:txBody>
      </p:sp>
      <p:sp>
        <p:nvSpPr>
          <p:cNvPr id="421" name="Google Shape;421;p35"/>
          <p:cNvSpPr txBox="1"/>
          <p:nvPr/>
        </p:nvSpPr>
        <p:spPr>
          <a:xfrm>
            <a:off x="1057275" y="4090987"/>
            <a:ext cx="280660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Sign in to ChatGPT, Claude, and Gemini. Test the same complex work question on all three to compare output variance.</a:t>
            </a:r>
            <a:endParaRPr/>
          </a:p>
        </p:txBody>
      </p:sp>
      <p:sp>
        <p:nvSpPr>
          <p:cNvPr id="422" name="Google Shape;422;p35"/>
          <p:cNvSpPr txBox="1"/>
          <p:nvPr/>
        </p:nvSpPr>
        <p:spPr>
          <a:xfrm>
            <a:off x="4692550" y="3643312"/>
            <a:ext cx="29470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2. Observe Differences</a:t>
            </a:r>
            <a:endParaRPr/>
          </a:p>
        </p:txBody>
      </p:sp>
      <p:sp>
        <p:nvSpPr>
          <p:cNvPr id="423" name="Google Shape;423;p35"/>
          <p:cNvSpPr txBox="1"/>
          <p:nvPr/>
        </p:nvSpPr>
        <p:spPr>
          <a:xfrm>
            <a:off x="4692550" y="4090987"/>
            <a:ext cx="2806749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1C5BF"/>
                </a:solidFill>
                <a:latin typeface="Lato"/>
                <a:ea typeface="Lato"/>
                <a:cs typeface="Lato"/>
                <a:sym typeface="Lato"/>
              </a:rPr>
              <a:t>Identify tone, structured layout, and citation differences. Write down one key ecosystem observation.</a:t>
            </a:r>
            <a:endParaRPr/>
          </a:p>
        </p:txBody>
      </p:sp>
      <p:sp>
        <p:nvSpPr>
          <p:cNvPr id="424" name="Google Shape;424;p35"/>
          <p:cNvSpPr txBox="1"/>
          <p:nvPr/>
        </p:nvSpPr>
        <p:spPr>
          <a:xfrm>
            <a:off x="8337500" y="3652837"/>
            <a:ext cx="292692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7F1EB"/>
                </a:solidFill>
                <a:latin typeface="Poppins"/>
                <a:ea typeface="Poppins"/>
                <a:cs typeface="Poppins"/>
                <a:sym typeface="Poppins"/>
              </a:rPr>
              <a:t>Day 2 Preview</a:t>
            </a:r>
            <a:endParaRPr/>
          </a:p>
        </p:txBody>
      </p:sp>
      <p:sp>
        <p:nvSpPr>
          <p:cNvPr id="425" name="Google Shape;425;p35"/>
          <p:cNvSpPr txBox="1"/>
          <p:nvPr/>
        </p:nvSpPr>
        <p:spPr>
          <a:xfrm>
            <a:off x="8337500" y="4100512"/>
            <a:ext cx="278755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5A00"/>
                </a:solidFill>
                <a:latin typeface="Lato"/>
                <a:ea typeface="Lato"/>
                <a:cs typeface="Lato"/>
                <a:sym typeface="Lato"/>
              </a:rPr>
              <a:t>Productivity &amp; Monetization:</a:t>
            </a:r>
            <a:r>
              <a:rPr b="0" i="0" lang="en-US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We put tools directly to work using NotebookLM, Canva, Gamma, and Zapier to save time and build new income streams.</a:t>
            </a:r>
            <a:endParaRPr/>
          </a:p>
        </p:txBody>
      </p:sp>
      <p:pic>
        <p:nvPicPr>
          <p:cNvPr descr="image.png" id="426" name="Google Shape;426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3128962"/>
            <a:ext cx="219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2550" y="31289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37500" y="313848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5" title="Onrol Logo Final (1)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3900" y="554575"/>
            <a:ext cx="1477453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9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4" name="Google Shape;43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6"/>
          <p:cNvSpPr txBox="1"/>
          <p:nvPr/>
        </p:nvSpPr>
        <p:spPr>
          <a:xfrm>
            <a:off x="2095500" y="3086100"/>
            <a:ext cx="8001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B211E"/>
                </a:solidFill>
                <a:latin typeface="Poppins"/>
                <a:ea typeface="Poppins"/>
                <a:cs typeface="Poppins"/>
                <a:sym typeface="Poppins"/>
              </a:rPr>
              <a:t>Questions &amp; Answers</a:t>
            </a:r>
            <a:endParaRPr/>
          </a:p>
        </p:txBody>
      </p:sp>
      <p:sp>
        <p:nvSpPr>
          <p:cNvPr id="436" name="Google Shape;436;p36"/>
          <p:cNvSpPr txBox="1"/>
          <p:nvPr/>
        </p:nvSpPr>
        <p:spPr>
          <a:xfrm>
            <a:off x="2286000" y="4038600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23E"/>
                </a:solidFill>
                <a:latin typeface="Lato"/>
                <a:ea typeface="Lato"/>
                <a:cs typeface="Lato"/>
                <a:sym typeface="Lato"/>
              </a:rPr>
              <a:t>Day 1 is complete! Head directly to the LMS to start your practice checklist.</a:t>
            </a:r>
            <a:endParaRPr/>
          </a:p>
        </p:txBody>
      </p:sp>
      <p:sp>
        <p:nvSpPr>
          <p:cNvPr id="437" name="Google Shape;437;p36"/>
          <p:cNvSpPr/>
          <p:nvPr/>
        </p:nvSpPr>
        <p:spPr>
          <a:xfrm>
            <a:off x="4905375" y="4667250"/>
            <a:ext cx="2381250" cy="28575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6"/>
          <p:cNvSpPr txBox="1"/>
          <p:nvPr/>
        </p:nvSpPr>
        <p:spPr>
          <a:xfrm>
            <a:off x="2286000" y="4981575"/>
            <a:ext cx="7620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C827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Slack Support: #day1-questions | LMS Checklist: onrol.school/lms</a:t>
            </a:r>
            <a:endParaRPr/>
          </a:p>
        </p:txBody>
      </p:sp>
      <p:pic>
        <p:nvPicPr>
          <p:cNvPr id="439" name="Google Shape;43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900" y="554575"/>
            <a:ext cx="1477452" cy="3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